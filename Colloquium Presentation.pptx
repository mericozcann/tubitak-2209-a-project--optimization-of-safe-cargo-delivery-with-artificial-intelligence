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x="18288000" cy="10287000"/>
  <p:notesSz cx="6858000" cy="9144000"/>
  <p:embeddedFontLst>
    <p:embeddedFont>
      <p:font typeface="Calibri (MS)" charset="1" panose="020F0502020204030204"/>
      <p:regular r:id="rId51"/>
    </p:embeddedFont>
    <p:embeddedFont>
      <p:font typeface="Rugrats Sans" charset="1" panose="00000000000000000000"/>
      <p:regular r:id="rId52"/>
    </p:embeddedFont>
    <p:embeddedFont>
      <p:font typeface="Calibri (MS) Bold" charset="1" panose="020F0702030404030204"/>
      <p:regular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kaggle.com/datasets/sayalikhot21/synthetic-dataset-for-e-commerce-return-analysis" TargetMode="External" Type="http://schemas.openxmlformats.org/officeDocument/2006/relationships/hyperlink"/><Relationship Id="rId11" Target="https://www.kaggle.com/datasets/sayalikhot21/synthetic-dataset-for-e-commerce-return-analysis" TargetMode="External" Type="http://schemas.openxmlformats.org/officeDocument/2006/relationships/hyperlink"/><Relationship Id="rId12" Target="https://www.logisticsmgmt.com/article/the_role_of_data_analytics_in_modern_logistics" TargetMode="External" Type="http://schemas.openxmlformats.org/officeDocument/2006/relationships/hyperlink"/><Relationship Id="rId2" Target="../media/image1.png" Type="http://schemas.openxmlformats.org/officeDocument/2006/relationships/image"/><Relationship Id="rId3" Target="../media/image2.svg" Type="http://schemas.openxmlformats.org/officeDocument/2006/relationships/image"/><Relationship Id="rId4" Target="https://www.kaggle.com/datasets/sayalikhot21/synthetic-dataset-for-e-commerce-return-analysis" TargetMode="External" Type="http://schemas.openxmlformats.org/officeDocument/2006/relationships/hyperlink"/><Relationship Id="rId5" Target="https://www.kaggle.com/datasets/sayalikhot21/synthetic-dataset-for-e-commerce-return-analysis" TargetMode="External" Type="http://schemas.openxmlformats.org/officeDocument/2006/relationships/hyperlink"/><Relationship Id="rId6" Target="https://www.kaggle.com/datasets/sayalikhot21/synthetic-dataset-for-e-commerce-return-analysis" TargetMode="External" Type="http://schemas.openxmlformats.org/officeDocument/2006/relationships/hyperlink"/><Relationship Id="rId7" Target="https://www.kaggle.com/datasets/sayalikhot21/synthetic-dataset-for-e-commerce-return-analysis" TargetMode="External" Type="http://schemas.openxmlformats.org/officeDocument/2006/relationships/hyperlink"/><Relationship Id="rId8" Target="https://www.kaggle.com/datasets/sayalikhot21/synthetic-dataset-for-e-commerce-return-analysis" TargetMode="External" Type="http://schemas.openxmlformats.org/officeDocument/2006/relationships/hyperlink"/><Relationship Id="rId9" Target="https://www.kaggle.com/datasets/sayalikhot21/synthetic-dataset-for-e-commerce-return-analysis" TargetMode="External" Type="http://schemas.openxmlformats.org/officeDocument/2006/relationships/hyperlink"/></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true" flipV="false" rot="0">
            <a:off x="0" y="8618398"/>
            <a:ext cx="5173960" cy="1668602"/>
          </a:xfrm>
          <a:custGeom>
            <a:avLst/>
            <a:gdLst/>
            <a:ahLst/>
            <a:cxnLst/>
            <a:rect r="r" b="b" t="t" l="l"/>
            <a:pathLst>
              <a:path h="1668602" w="5173960">
                <a:moveTo>
                  <a:pt x="5173960" y="0"/>
                </a:moveTo>
                <a:lnTo>
                  <a:pt x="0" y="0"/>
                </a:lnTo>
                <a:lnTo>
                  <a:pt x="0" y="1668602"/>
                </a:lnTo>
                <a:lnTo>
                  <a:pt x="5173960" y="1668602"/>
                </a:lnTo>
                <a:lnTo>
                  <a:pt x="517396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true" rot="0">
            <a:off x="13114040" y="0"/>
            <a:ext cx="5173960" cy="1668602"/>
          </a:xfrm>
          <a:custGeom>
            <a:avLst/>
            <a:gdLst/>
            <a:ahLst/>
            <a:cxnLst/>
            <a:rect r="r" b="b" t="t" l="l"/>
            <a:pathLst>
              <a:path h="1668602" w="5173960">
                <a:moveTo>
                  <a:pt x="0" y="1668602"/>
                </a:moveTo>
                <a:lnTo>
                  <a:pt x="5173960" y="1668602"/>
                </a:lnTo>
                <a:lnTo>
                  <a:pt x="5173960" y="0"/>
                </a:lnTo>
                <a:lnTo>
                  <a:pt x="0" y="0"/>
                </a:lnTo>
                <a:lnTo>
                  <a:pt x="0" y="166860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8322544" y="1588698"/>
            <a:ext cx="1642912" cy="1642912"/>
          </a:xfrm>
          <a:custGeom>
            <a:avLst/>
            <a:gdLst/>
            <a:ahLst/>
            <a:cxnLst/>
            <a:rect r="r" b="b" t="t" l="l"/>
            <a:pathLst>
              <a:path h="1642912" w="1642912">
                <a:moveTo>
                  <a:pt x="0" y="0"/>
                </a:moveTo>
                <a:lnTo>
                  <a:pt x="1642912" y="0"/>
                </a:lnTo>
                <a:lnTo>
                  <a:pt x="1642912" y="1642912"/>
                </a:lnTo>
                <a:lnTo>
                  <a:pt x="0" y="1642912"/>
                </a:lnTo>
                <a:lnTo>
                  <a:pt x="0" y="0"/>
                </a:lnTo>
                <a:close/>
              </a:path>
            </a:pathLst>
          </a:custGeom>
          <a:blipFill>
            <a:blip r:embed="rId6"/>
            <a:stretch>
              <a:fillRect l="0" t="0" r="0" b="0"/>
            </a:stretch>
          </a:blipFill>
        </p:spPr>
      </p:sp>
      <p:sp>
        <p:nvSpPr>
          <p:cNvPr name="TextBox 14" id="14"/>
          <p:cNvSpPr txBox="true"/>
          <p:nvPr/>
        </p:nvSpPr>
        <p:spPr>
          <a:xfrm rot="0">
            <a:off x="1603424" y="4156576"/>
            <a:ext cx="15081152" cy="1612231"/>
          </a:xfrm>
          <a:prstGeom prst="rect">
            <a:avLst/>
          </a:prstGeom>
        </p:spPr>
        <p:txBody>
          <a:bodyPr anchor="t" rtlCol="false" tIns="0" lIns="0" bIns="0" rIns="0">
            <a:spAutoFit/>
          </a:bodyPr>
          <a:lstStyle/>
          <a:p>
            <a:pPr algn="ctr">
              <a:lnSpc>
                <a:spcPts val="6161"/>
              </a:lnSpc>
            </a:pPr>
            <a:r>
              <a:rPr lang="en-US" sz="4401">
                <a:solidFill>
                  <a:srgbClr val="004AAD"/>
                </a:solidFill>
                <a:latin typeface="Calibri (MS)"/>
                <a:ea typeface="Calibri (MS)"/>
                <a:cs typeface="Calibri (MS)"/>
                <a:sym typeface="Calibri (MS)"/>
              </a:rPr>
              <a:t>TEDARIK ZINCIRI RISK ANALIZINDE METODOLOJİK BİR ANOMALİ: KARA KUTU METRİĞİN SINIFLANDIRMA ETKİSİ</a:t>
            </a:r>
          </a:p>
        </p:txBody>
      </p:sp>
      <p:sp>
        <p:nvSpPr>
          <p:cNvPr name="TextBox 15" id="15"/>
          <p:cNvSpPr txBox="true"/>
          <p:nvPr/>
        </p:nvSpPr>
        <p:spPr>
          <a:xfrm rot="0">
            <a:off x="4082669" y="6033372"/>
            <a:ext cx="10122662" cy="876300"/>
          </a:xfrm>
          <a:prstGeom prst="rect">
            <a:avLst/>
          </a:prstGeom>
        </p:spPr>
        <p:txBody>
          <a:bodyPr anchor="t" rtlCol="false" tIns="0" lIns="0" bIns="0" rIns="0">
            <a:spAutoFit/>
          </a:bodyPr>
          <a:lstStyle/>
          <a:p>
            <a:pPr algn="ctr">
              <a:lnSpc>
                <a:spcPts val="6299"/>
              </a:lnSpc>
            </a:pPr>
            <a:r>
              <a:rPr lang="en-US" sz="4500">
                <a:solidFill>
                  <a:srgbClr val="000000"/>
                </a:solidFill>
                <a:latin typeface="Rugrats Sans"/>
                <a:ea typeface="Rugrats Sans"/>
                <a:cs typeface="Rugrats Sans"/>
                <a:sym typeface="Rugrats Sans"/>
              </a:rPr>
              <a:t>Meriç Özcan</a:t>
            </a:r>
          </a:p>
        </p:txBody>
      </p:sp>
      <p:sp>
        <p:nvSpPr>
          <p:cNvPr name="TextBox 16" id="16"/>
          <p:cNvSpPr txBox="true"/>
          <p:nvPr/>
        </p:nvSpPr>
        <p:spPr>
          <a:xfrm rot="0">
            <a:off x="7688749" y="3374485"/>
            <a:ext cx="2910501" cy="488950"/>
          </a:xfrm>
          <a:prstGeom prst="rect">
            <a:avLst/>
          </a:prstGeom>
        </p:spPr>
        <p:txBody>
          <a:bodyPr anchor="t" rtlCol="false" tIns="0" lIns="0" bIns="0" rIns="0">
            <a:spAutoFit/>
          </a:bodyPr>
          <a:lstStyle/>
          <a:p>
            <a:pPr algn="ctr">
              <a:lnSpc>
                <a:spcPts val="3499"/>
              </a:lnSpc>
            </a:pPr>
            <a:r>
              <a:rPr lang="en-US" sz="2499">
                <a:solidFill>
                  <a:srgbClr val="000000"/>
                </a:solidFill>
                <a:latin typeface="Rugrats Sans"/>
                <a:ea typeface="Rugrats Sans"/>
                <a:cs typeface="Rugrats Sans"/>
                <a:sym typeface="Rugrats Sans"/>
              </a:rPr>
              <a:t>Ege</a:t>
            </a:r>
            <a:r>
              <a:rPr lang="en-US" sz="2499">
                <a:solidFill>
                  <a:srgbClr val="000000"/>
                </a:solidFill>
                <a:latin typeface="Rugrats Sans"/>
                <a:ea typeface="Rugrats Sans"/>
                <a:cs typeface="Rugrats Sans"/>
                <a:sym typeface="Rugrats Sans"/>
              </a:rPr>
              <a:t> University</a:t>
            </a:r>
          </a:p>
        </p:txBody>
      </p:sp>
      <p:sp>
        <p:nvSpPr>
          <p:cNvPr name="TextBox 17" id="17"/>
          <p:cNvSpPr txBox="true"/>
          <p:nvPr/>
        </p:nvSpPr>
        <p:spPr>
          <a:xfrm rot="0">
            <a:off x="5495702" y="7062072"/>
            <a:ext cx="7296596" cy="917573"/>
          </a:xfrm>
          <a:prstGeom prst="rect">
            <a:avLst/>
          </a:prstGeom>
        </p:spPr>
        <p:txBody>
          <a:bodyPr anchor="t" rtlCol="false" tIns="0" lIns="0" bIns="0" rIns="0">
            <a:spAutoFit/>
          </a:bodyPr>
          <a:lstStyle/>
          <a:p>
            <a:pPr algn="ctr">
              <a:lnSpc>
                <a:spcPts val="3500"/>
              </a:lnSpc>
              <a:spcBef>
                <a:spcPct val="0"/>
              </a:spcBef>
            </a:pPr>
            <a:r>
              <a:rPr lang="en-US" b="true" sz="2500">
                <a:solidFill>
                  <a:srgbClr val="000000"/>
                </a:solidFill>
                <a:latin typeface="Calibri (MS) Bold"/>
                <a:ea typeface="Calibri (MS) Bold"/>
                <a:cs typeface="Calibri (MS) Bold"/>
                <a:sym typeface="Calibri (MS) Bold"/>
              </a:rPr>
              <a:t>Yazarlar: </a:t>
            </a:r>
            <a:r>
              <a:rPr lang="en-US" b="true" sz="2500">
                <a:solidFill>
                  <a:srgbClr val="000000"/>
                </a:solidFill>
                <a:latin typeface="Calibri (MS) Bold"/>
                <a:ea typeface="Calibri (MS) Bold"/>
                <a:cs typeface="Calibri (MS) Bold"/>
                <a:sym typeface="Calibri (MS) Bold"/>
              </a:rPr>
              <a:t>Meriç Özcan, Mırgavam Gavamı, Buket Gürlek </a:t>
            </a:r>
          </a:p>
          <a:p>
            <a:pPr algn="ctr">
              <a:lnSpc>
                <a:spcPts val="3500"/>
              </a:lnSpc>
              <a:spcBef>
                <a:spcPct val="0"/>
              </a:spcBef>
            </a:pPr>
            <a:r>
              <a:rPr lang="en-US" b="true" sz="2500">
                <a:solidFill>
                  <a:srgbClr val="000000"/>
                </a:solidFill>
                <a:latin typeface="Calibri (MS) Bold"/>
                <a:ea typeface="Calibri (MS) Bold"/>
                <a:cs typeface="Calibri (MS) Bold"/>
                <a:sym typeface="Calibri (MS) Bold"/>
              </a:rPr>
              <a:t>Ege Üniversitesi, Fen Fakültesi, İstatistik Bölümü</a:t>
            </a:r>
          </a:p>
        </p:txBody>
      </p:sp>
      <p:sp>
        <p:nvSpPr>
          <p:cNvPr name="TextBox 18" id="18"/>
          <p:cNvSpPr txBox="true"/>
          <p:nvPr/>
        </p:nvSpPr>
        <p:spPr>
          <a:xfrm rot="0">
            <a:off x="1603424" y="8274920"/>
            <a:ext cx="15081152" cy="831181"/>
          </a:xfrm>
          <a:prstGeom prst="rect">
            <a:avLst/>
          </a:prstGeom>
        </p:spPr>
        <p:txBody>
          <a:bodyPr anchor="t" rtlCol="false" tIns="0" lIns="0" bIns="0" rIns="0">
            <a:spAutoFit/>
          </a:bodyPr>
          <a:lstStyle/>
          <a:p>
            <a:pPr algn="ctr">
              <a:lnSpc>
                <a:spcPts val="6161"/>
              </a:lnSpc>
            </a:pPr>
            <a:r>
              <a:rPr lang="en-US" sz="4401">
                <a:solidFill>
                  <a:srgbClr val="004AAD"/>
                </a:solidFill>
                <a:latin typeface="Calibri (MS)"/>
                <a:ea typeface="Calibri (MS)"/>
                <a:cs typeface="Calibri (MS)"/>
                <a:sym typeface="Calibri (MS)"/>
              </a:rPr>
              <a:t>TÜBİTAK 2209-A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AutoShape 11" id="11"/>
          <p:cNvSpPr/>
          <p:nvPr/>
        </p:nvSpPr>
        <p:spPr>
          <a:xfrm>
            <a:off x="10030827" y="1049910"/>
            <a:ext cx="7228473" cy="0"/>
          </a:xfrm>
          <a:prstGeom prst="line">
            <a:avLst/>
          </a:prstGeom>
          <a:ln cap="flat" w="38100">
            <a:solidFill>
              <a:srgbClr val="004AAD"/>
            </a:solidFill>
            <a:prstDash val="solid"/>
            <a:headEnd type="none" len="sm" w="sm"/>
            <a:tailEnd type="none" len="sm" w="sm"/>
          </a:ln>
        </p:spPr>
      </p:sp>
      <p:sp>
        <p:nvSpPr>
          <p:cNvPr name="AutoShape 12" id="12"/>
          <p:cNvSpPr/>
          <p:nvPr/>
        </p:nvSpPr>
        <p:spPr>
          <a:xfrm>
            <a:off x="10030827" y="9237090"/>
            <a:ext cx="7228473" cy="0"/>
          </a:xfrm>
          <a:prstGeom prst="line">
            <a:avLst/>
          </a:prstGeom>
          <a:ln cap="flat" w="38100">
            <a:solidFill>
              <a:srgbClr val="004AAD"/>
            </a:solidFill>
            <a:prstDash val="solid"/>
            <a:headEnd type="none" len="sm" w="sm"/>
            <a:tailEnd type="none" len="sm" w="sm"/>
          </a:ln>
        </p:spPr>
      </p:sp>
      <p:sp>
        <p:nvSpPr>
          <p:cNvPr name="AutoShape 13" id="13"/>
          <p:cNvSpPr/>
          <p:nvPr/>
        </p:nvSpPr>
        <p:spPr>
          <a:xfrm>
            <a:off x="10030827" y="7625106"/>
            <a:ext cx="7228473" cy="0"/>
          </a:xfrm>
          <a:prstGeom prst="line">
            <a:avLst/>
          </a:prstGeom>
          <a:ln cap="flat" w="38100">
            <a:solidFill>
              <a:srgbClr val="004AAD"/>
            </a:solidFill>
            <a:prstDash val="solid"/>
            <a:headEnd type="none" len="sm" w="sm"/>
            <a:tailEnd type="none" len="sm" w="sm"/>
          </a:ln>
        </p:spPr>
      </p:sp>
      <p:sp>
        <p:nvSpPr>
          <p:cNvPr name="AutoShape 14" id="14"/>
          <p:cNvSpPr/>
          <p:nvPr/>
        </p:nvSpPr>
        <p:spPr>
          <a:xfrm>
            <a:off x="10030827" y="5970702"/>
            <a:ext cx="7228473" cy="0"/>
          </a:xfrm>
          <a:prstGeom prst="line">
            <a:avLst/>
          </a:prstGeom>
          <a:ln cap="flat" w="38100">
            <a:solidFill>
              <a:srgbClr val="004AAD"/>
            </a:solidFill>
            <a:prstDash val="solid"/>
            <a:headEnd type="none" len="sm" w="sm"/>
            <a:tailEnd type="none" len="sm" w="sm"/>
          </a:ln>
        </p:spPr>
      </p:sp>
      <p:sp>
        <p:nvSpPr>
          <p:cNvPr name="AutoShape 15" id="15"/>
          <p:cNvSpPr/>
          <p:nvPr/>
        </p:nvSpPr>
        <p:spPr>
          <a:xfrm>
            <a:off x="10030827" y="4305693"/>
            <a:ext cx="7228473" cy="0"/>
          </a:xfrm>
          <a:prstGeom prst="line">
            <a:avLst/>
          </a:prstGeom>
          <a:ln cap="flat" w="38100">
            <a:solidFill>
              <a:srgbClr val="004AAD"/>
            </a:solidFill>
            <a:prstDash val="solid"/>
            <a:headEnd type="none" len="sm" w="sm"/>
            <a:tailEnd type="none" len="sm" w="sm"/>
          </a:ln>
        </p:spPr>
      </p:sp>
      <p:sp>
        <p:nvSpPr>
          <p:cNvPr name="AutoShape 16" id="16"/>
          <p:cNvSpPr/>
          <p:nvPr/>
        </p:nvSpPr>
        <p:spPr>
          <a:xfrm>
            <a:off x="10030827" y="2661894"/>
            <a:ext cx="7228473" cy="0"/>
          </a:xfrm>
          <a:prstGeom prst="line">
            <a:avLst/>
          </a:prstGeom>
          <a:ln cap="flat" w="38100">
            <a:solidFill>
              <a:srgbClr val="004AAD"/>
            </a:solidFill>
            <a:prstDash val="solid"/>
            <a:headEnd type="none" len="sm" w="sm"/>
            <a:tailEnd type="none" len="sm" w="sm"/>
          </a:ln>
        </p:spPr>
      </p:sp>
      <p:grpSp>
        <p:nvGrpSpPr>
          <p:cNvPr name="Group 17" id="17"/>
          <p:cNvGrpSpPr/>
          <p:nvPr/>
        </p:nvGrpSpPr>
        <p:grpSpPr>
          <a:xfrm rot="0">
            <a:off x="-514350" y="3849671"/>
            <a:ext cx="9658350" cy="2545237"/>
            <a:chOff x="0" y="0"/>
            <a:chExt cx="2543763" cy="670351"/>
          </a:xfrm>
        </p:grpSpPr>
        <p:sp>
          <p:nvSpPr>
            <p:cNvPr name="Freeform 18" id="18"/>
            <p:cNvSpPr/>
            <p:nvPr/>
          </p:nvSpPr>
          <p:spPr>
            <a:xfrm flipH="false" flipV="false" rot="0">
              <a:off x="0" y="0"/>
              <a:ext cx="2543763" cy="670351"/>
            </a:xfrm>
            <a:custGeom>
              <a:avLst/>
              <a:gdLst/>
              <a:ahLst/>
              <a:cxnLst/>
              <a:rect r="r" b="b" t="t" l="l"/>
              <a:pathLst>
                <a:path h="670351" w="2543763">
                  <a:moveTo>
                    <a:pt x="0" y="0"/>
                  </a:moveTo>
                  <a:lnTo>
                    <a:pt x="2543763" y="0"/>
                  </a:lnTo>
                  <a:lnTo>
                    <a:pt x="2543763" y="670351"/>
                  </a:lnTo>
                  <a:lnTo>
                    <a:pt x="0" y="670351"/>
                  </a:lnTo>
                  <a:close/>
                </a:path>
              </a:pathLst>
            </a:custGeom>
            <a:solidFill>
              <a:srgbClr val="004AAD"/>
            </a:solidFill>
          </p:spPr>
        </p:sp>
        <p:sp>
          <p:nvSpPr>
            <p:cNvPr name="TextBox 19" id="19"/>
            <p:cNvSpPr txBox="true"/>
            <p:nvPr/>
          </p:nvSpPr>
          <p:spPr>
            <a:xfrm>
              <a:off x="0" y="-76200"/>
              <a:ext cx="2543763" cy="746551"/>
            </a:xfrm>
            <a:prstGeom prst="rect">
              <a:avLst/>
            </a:prstGeom>
          </p:spPr>
          <p:txBody>
            <a:bodyPr anchor="ctr" rtlCol="false" tIns="50800" lIns="50800" bIns="50800" rIns="50800"/>
            <a:lstStyle/>
            <a:p>
              <a:pPr algn="ctr">
                <a:lnSpc>
                  <a:spcPts val="2800"/>
                </a:lnSpc>
              </a:pPr>
            </a:p>
          </p:txBody>
        </p:sp>
      </p:grpSp>
      <p:sp>
        <p:nvSpPr>
          <p:cNvPr name="TextBox 20" id="20"/>
          <p:cNvSpPr txBox="true"/>
          <p:nvPr/>
        </p:nvSpPr>
        <p:spPr>
          <a:xfrm rot="0">
            <a:off x="2039508" y="4221163"/>
            <a:ext cx="56139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GENEL BAKIŞ</a:t>
            </a:r>
          </a:p>
        </p:txBody>
      </p:sp>
      <p:sp>
        <p:nvSpPr>
          <p:cNvPr name="TextBox 21" id="21"/>
          <p:cNvSpPr txBox="true"/>
          <p:nvPr/>
        </p:nvSpPr>
        <p:spPr>
          <a:xfrm rot="0">
            <a:off x="11496557" y="6185358"/>
            <a:ext cx="5762743" cy="968375"/>
          </a:xfrm>
          <a:prstGeom prst="rect">
            <a:avLst/>
          </a:prstGeom>
        </p:spPr>
        <p:txBody>
          <a:bodyPr anchor="t" rtlCol="false" tIns="0" lIns="0" bIns="0" rIns="0">
            <a:spAutoFit/>
          </a:bodyPr>
          <a:lstStyle/>
          <a:p>
            <a:pPr algn="l">
              <a:lnSpc>
                <a:spcPts val="7000"/>
              </a:lnSpc>
            </a:pPr>
            <a:r>
              <a:rPr lang="en-US" sz="5000">
                <a:solidFill>
                  <a:srgbClr val="000000"/>
                </a:solidFill>
                <a:latin typeface="Calibri (MS)"/>
                <a:ea typeface="Calibri (MS)"/>
                <a:cs typeface="Calibri (MS)"/>
                <a:sym typeface="Calibri (MS)"/>
              </a:rPr>
              <a:t>Tartışma ve Sonuç</a:t>
            </a:r>
          </a:p>
        </p:txBody>
      </p:sp>
      <p:sp>
        <p:nvSpPr>
          <p:cNvPr name="TextBox 22" id="22"/>
          <p:cNvSpPr txBox="true"/>
          <p:nvPr/>
        </p:nvSpPr>
        <p:spPr>
          <a:xfrm rot="0">
            <a:off x="11496557" y="2876550"/>
            <a:ext cx="5762743" cy="968375"/>
          </a:xfrm>
          <a:prstGeom prst="rect">
            <a:avLst/>
          </a:prstGeom>
        </p:spPr>
        <p:txBody>
          <a:bodyPr anchor="t" rtlCol="false" tIns="0" lIns="0" bIns="0" rIns="0">
            <a:spAutoFit/>
          </a:bodyPr>
          <a:lstStyle/>
          <a:p>
            <a:pPr algn="l">
              <a:lnSpc>
                <a:spcPts val="7000"/>
              </a:lnSpc>
            </a:pPr>
            <a:r>
              <a:rPr lang="en-US" sz="5000">
                <a:solidFill>
                  <a:srgbClr val="000000"/>
                </a:solidFill>
                <a:latin typeface="Calibri (MS)"/>
                <a:ea typeface="Calibri (MS)"/>
                <a:cs typeface="Calibri (MS)"/>
                <a:sym typeface="Calibri (MS)"/>
              </a:rPr>
              <a:t>Yöntem - Metot</a:t>
            </a:r>
          </a:p>
        </p:txBody>
      </p:sp>
      <p:sp>
        <p:nvSpPr>
          <p:cNvPr name="TextBox 23" id="23"/>
          <p:cNvSpPr txBox="true"/>
          <p:nvPr/>
        </p:nvSpPr>
        <p:spPr>
          <a:xfrm rot="0">
            <a:off x="11496557" y="4520349"/>
            <a:ext cx="5762743" cy="968375"/>
          </a:xfrm>
          <a:prstGeom prst="rect">
            <a:avLst/>
          </a:prstGeom>
        </p:spPr>
        <p:txBody>
          <a:bodyPr anchor="t" rtlCol="false" tIns="0" lIns="0" bIns="0" rIns="0">
            <a:spAutoFit/>
          </a:bodyPr>
          <a:lstStyle/>
          <a:p>
            <a:pPr algn="l">
              <a:lnSpc>
                <a:spcPts val="7000"/>
              </a:lnSpc>
            </a:pPr>
            <a:r>
              <a:rPr lang="en-US" sz="5000">
                <a:solidFill>
                  <a:srgbClr val="000000"/>
                </a:solidFill>
                <a:latin typeface="Calibri (MS)"/>
                <a:ea typeface="Calibri (MS)"/>
                <a:cs typeface="Calibri (MS)"/>
                <a:sym typeface="Calibri (MS)"/>
              </a:rPr>
              <a:t>Bulgular - Sonuçlar</a:t>
            </a:r>
          </a:p>
        </p:txBody>
      </p:sp>
      <p:sp>
        <p:nvSpPr>
          <p:cNvPr name="TextBox 24" id="24"/>
          <p:cNvSpPr txBox="true"/>
          <p:nvPr/>
        </p:nvSpPr>
        <p:spPr>
          <a:xfrm rot="0">
            <a:off x="11496557" y="7839762"/>
            <a:ext cx="5762743" cy="968375"/>
          </a:xfrm>
          <a:prstGeom prst="rect">
            <a:avLst/>
          </a:prstGeom>
        </p:spPr>
        <p:txBody>
          <a:bodyPr anchor="t" rtlCol="false" tIns="0" lIns="0" bIns="0" rIns="0">
            <a:spAutoFit/>
          </a:bodyPr>
          <a:lstStyle/>
          <a:p>
            <a:pPr algn="l">
              <a:lnSpc>
                <a:spcPts val="7000"/>
              </a:lnSpc>
            </a:pPr>
            <a:r>
              <a:rPr lang="en-US" sz="5000">
                <a:solidFill>
                  <a:srgbClr val="000000"/>
                </a:solidFill>
                <a:latin typeface="Calibri (MS)"/>
                <a:ea typeface="Calibri (MS)"/>
                <a:cs typeface="Calibri (MS)"/>
                <a:sym typeface="Calibri (MS)"/>
              </a:rPr>
              <a:t>Kaynaklar</a:t>
            </a:r>
          </a:p>
        </p:txBody>
      </p:sp>
      <p:sp>
        <p:nvSpPr>
          <p:cNvPr name="TextBox 25" id="25"/>
          <p:cNvSpPr txBox="true"/>
          <p:nvPr/>
        </p:nvSpPr>
        <p:spPr>
          <a:xfrm rot="0">
            <a:off x="11496557" y="1264566"/>
            <a:ext cx="5762743" cy="968375"/>
          </a:xfrm>
          <a:prstGeom prst="rect">
            <a:avLst/>
          </a:prstGeom>
        </p:spPr>
        <p:txBody>
          <a:bodyPr anchor="t" rtlCol="false" tIns="0" lIns="0" bIns="0" rIns="0">
            <a:spAutoFit/>
          </a:bodyPr>
          <a:lstStyle/>
          <a:p>
            <a:pPr algn="l">
              <a:lnSpc>
                <a:spcPts val="7000"/>
              </a:lnSpc>
            </a:pPr>
            <a:r>
              <a:rPr lang="en-US" sz="5000">
                <a:solidFill>
                  <a:srgbClr val="000000"/>
                </a:solidFill>
                <a:latin typeface="Calibri (MS)"/>
                <a:ea typeface="Calibri (MS)"/>
                <a:cs typeface="Calibri (MS)"/>
                <a:sym typeface="Calibri (MS)"/>
              </a:rPr>
              <a:t>Giriş - Amaç</a:t>
            </a:r>
          </a:p>
        </p:txBody>
      </p:sp>
      <p:sp>
        <p:nvSpPr>
          <p:cNvPr name="TextBox 26" id="26"/>
          <p:cNvSpPr txBox="true"/>
          <p:nvPr/>
        </p:nvSpPr>
        <p:spPr>
          <a:xfrm rot="0">
            <a:off x="10183227" y="1251408"/>
            <a:ext cx="1155512" cy="968375"/>
          </a:xfrm>
          <a:prstGeom prst="rect">
            <a:avLst/>
          </a:prstGeom>
        </p:spPr>
        <p:txBody>
          <a:bodyPr anchor="t" rtlCol="false" tIns="0" lIns="0" bIns="0" rIns="0">
            <a:spAutoFit/>
          </a:bodyPr>
          <a:lstStyle/>
          <a:p>
            <a:pPr algn="ctr">
              <a:lnSpc>
                <a:spcPts val="7000"/>
              </a:lnSpc>
            </a:pPr>
            <a:r>
              <a:rPr lang="en-US" sz="5000" b="true">
                <a:solidFill>
                  <a:srgbClr val="000000"/>
                </a:solidFill>
                <a:latin typeface="Calibri (MS) Bold"/>
                <a:ea typeface="Calibri (MS) Bold"/>
                <a:cs typeface="Calibri (MS) Bold"/>
                <a:sym typeface="Calibri (MS) Bold"/>
              </a:rPr>
              <a:t>01</a:t>
            </a:r>
          </a:p>
        </p:txBody>
      </p:sp>
      <p:sp>
        <p:nvSpPr>
          <p:cNvPr name="TextBox 27" id="27"/>
          <p:cNvSpPr txBox="true"/>
          <p:nvPr/>
        </p:nvSpPr>
        <p:spPr>
          <a:xfrm rot="0">
            <a:off x="10183227" y="2903639"/>
            <a:ext cx="1155512" cy="968375"/>
          </a:xfrm>
          <a:prstGeom prst="rect">
            <a:avLst/>
          </a:prstGeom>
        </p:spPr>
        <p:txBody>
          <a:bodyPr anchor="t" rtlCol="false" tIns="0" lIns="0" bIns="0" rIns="0">
            <a:spAutoFit/>
          </a:bodyPr>
          <a:lstStyle/>
          <a:p>
            <a:pPr algn="ctr">
              <a:lnSpc>
                <a:spcPts val="7000"/>
              </a:lnSpc>
            </a:pPr>
            <a:r>
              <a:rPr lang="en-US" sz="5000" b="true">
                <a:solidFill>
                  <a:srgbClr val="000000"/>
                </a:solidFill>
                <a:latin typeface="Calibri (MS) Bold"/>
                <a:ea typeface="Calibri (MS) Bold"/>
                <a:cs typeface="Calibri (MS) Bold"/>
                <a:sym typeface="Calibri (MS) Bold"/>
              </a:rPr>
              <a:t>02</a:t>
            </a:r>
          </a:p>
        </p:txBody>
      </p:sp>
      <p:sp>
        <p:nvSpPr>
          <p:cNvPr name="TextBox 28" id="28"/>
          <p:cNvSpPr txBox="true"/>
          <p:nvPr/>
        </p:nvSpPr>
        <p:spPr>
          <a:xfrm rot="0">
            <a:off x="10183227" y="4530548"/>
            <a:ext cx="1155512" cy="968375"/>
          </a:xfrm>
          <a:prstGeom prst="rect">
            <a:avLst/>
          </a:prstGeom>
        </p:spPr>
        <p:txBody>
          <a:bodyPr anchor="t" rtlCol="false" tIns="0" lIns="0" bIns="0" rIns="0">
            <a:spAutoFit/>
          </a:bodyPr>
          <a:lstStyle/>
          <a:p>
            <a:pPr algn="ctr">
              <a:lnSpc>
                <a:spcPts val="7000"/>
              </a:lnSpc>
            </a:pPr>
            <a:r>
              <a:rPr lang="en-US" sz="5000" b="true">
                <a:solidFill>
                  <a:srgbClr val="000000"/>
                </a:solidFill>
                <a:latin typeface="Calibri (MS) Bold"/>
                <a:ea typeface="Calibri (MS) Bold"/>
                <a:cs typeface="Calibri (MS) Bold"/>
                <a:sym typeface="Calibri (MS) Bold"/>
              </a:rPr>
              <a:t>03</a:t>
            </a:r>
          </a:p>
        </p:txBody>
      </p:sp>
      <p:sp>
        <p:nvSpPr>
          <p:cNvPr name="TextBox 29" id="29"/>
          <p:cNvSpPr txBox="true"/>
          <p:nvPr/>
        </p:nvSpPr>
        <p:spPr>
          <a:xfrm rot="0">
            <a:off x="10183227" y="6185358"/>
            <a:ext cx="1155512" cy="968375"/>
          </a:xfrm>
          <a:prstGeom prst="rect">
            <a:avLst/>
          </a:prstGeom>
        </p:spPr>
        <p:txBody>
          <a:bodyPr anchor="t" rtlCol="false" tIns="0" lIns="0" bIns="0" rIns="0">
            <a:spAutoFit/>
          </a:bodyPr>
          <a:lstStyle/>
          <a:p>
            <a:pPr algn="ctr">
              <a:lnSpc>
                <a:spcPts val="7000"/>
              </a:lnSpc>
            </a:pPr>
            <a:r>
              <a:rPr lang="en-US" sz="5000" b="true">
                <a:solidFill>
                  <a:srgbClr val="000000"/>
                </a:solidFill>
                <a:latin typeface="Calibri (MS) Bold"/>
                <a:ea typeface="Calibri (MS) Bold"/>
                <a:cs typeface="Calibri (MS) Bold"/>
                <a:sym typeface="Calibri (MS) Bold"/>
              </a:rPr>
              <a:t>04</a:t>
            </a:r>
          </a:p>
        </p:txBody>
      </p:sp>
      <p:sp>
        <p:nvSpPr>
          <p:cNvPr name="TextBox 30" id="30"/>
          <p:cNvSpPr txBox="true"/>
          <p:nvPr/>
        </p:nvSpPr>
        <p:spPr>
          <a:xfrm rot="0">
            <a:off x="10183227" y="7839762"/>
            <a:ext cx="1155512" cy="968375"/>
          </a:xfrm>
          <a:prstGeom prst="rect">
            <a:avLst/>
          </a:prstGeom>
        </p:spPr>
        <p:txBody>
          <a:bodyPr anchor="t" rtlCol="false" tIns="0" lIns="0" bIns="0" rIns="0">
            <a:spAutoFit/>
          </a:bodyPr>
          <a:lstStyle/>
          <a:p>
            <a:pPr algn="ctr">
              <a:lnSpc>
                <a:spcPts val="7000"/>
              </a:lnSpc>
            </a:pPr>
            <a:r>
              <a:rPr lang="en-US" sz="5000" b="true">
                <a:solidFill>
                  <a:srgbClr val="000000"/>
                </a:solidFill>
                <a:latin typeface="Calibri (MS) Bold"/>
                <a:ea typeface="Calibri (MS) Bold"/>
                <a:cs typeface="Calibri (MS) Bold"/>
                <a:sym typeface="Calibri (MS) Bold"/>
              </a:rPr>
              <a:t>05</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01</a:t>
            </a:r>
          </a:p>
        </p:txBody>
      </p:sp>
      <p:sp>
        <p:nvSpPr>
          <p:cNvPr name="TextBox 15" id="15"/>
          <p:cNvSpPr txBox="true"/>
          <p:nvPr/>
        </p:nvSpPr>
        <p:spPr>
          <a:xfrm rot="0">
            <a:off x="4972755" y="1566306"/>
            <a:ext cx="8342491"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GIRIŞ</a:t>
            </a:r>
          </a:p>
        </p:txBody>
      </p:sp>
      <p:sp>
        <p:nvSpPr>
          <p:cNvPr name="TextBox 16" id="16"/>
          <p:cNvSpPr txBox="true"/>
          <p:nvPr/>
        </p:nvSpPr>
        <p:spPr>
          <a:xfrm rot="0">
            <a:off x="1381658" y="3559175"/>
            <a:ext cx="15524685" cy="4289425"/>
          </a:xfrm>
          <a:prstGeom prst="rect">
            <a:avLst/>
          </a:prstGeom>
        </p:spPr>
        <p:txBody>
          <a:bodyPr anchor="t" rtlCol="false" tIns="0" lIns="0" bIns="0" rIns="0">
            <a:spAutoFit/>
          </a:bodyPr>
          <a:lstStyle/>
          <a:p>
            <a:pPr algn="ctr">
              <a:lnSpc>
                <a:spcPts val="5599"/>
              </a:lnSpc>
            </a:pPr>
            <a:r>
              <a:rPr lang="en-US" sz="3999">
                <a:solidFill>
                  <a:srgbClr val="000000"/>
                </a:solidFill>
                <a:latin typeface="Calibri (MS)"/>
                <a:ea typeface="Calibri (MS)"/>
                <a:cs typeface="Calibri (MS)"/>
                <a:sym typeface="Calibri (MS)"/>
              </a:rPr>
              <a:t>Kargo taşımacılığındaki kesintiler, Tedarik Zinciri Yönetimi (SCM) için büyük bir risk teşkil ediyor. Bu çalışma, 4 veri setinden oluşturduğumuz veri tabanını kullanarak bu riskleri doğru tahmin etmeyi hedefliyor. </a:t>
            </a:r>
          </a:p>
          <a:p>
            <a:pPr algn="ctr">
              <a:lnSpc>
                <a:spcPts val="5599"/>
              </a:lnSpc>
            </a:pPr>
            <a:r>
              <a:rPr lang="en-US" sz="3999">
                <a:solidFill>
                  <a:srgbClr val="000000"/>
                </a:solidFill>
                <a:latin typeface="Calibri (MS)"/>
                <a:ea typeface="Calibri (MS)"/>
                <a:cs typeface="Calibri (MS)"/>
                <a:sym typeface="Calibri (MS)"/>
              </a:rPr>
              <a:t>Temel amacımız, geliştirilen modelle SCM'yi daha güvenilir ve hızlı hale getirerek, e-ticaret müşterilerinin satın alma deneyimlerini optimize etmek ve sağlıklı bir teslimat süreci sağlamaktır.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TextBox 11" id="11"/>
          <p:cNvSpPr txBox="true"/>
          <p:nvPr/>
        </p:nvSpPr>
        <p:spPr>
          <a:xfrm rot="0">
            <a:off x="4839287" y="1437240"/>
            <a:ext cx="8609425"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ÇALIŞMA AMAÇLARI</a:t>
            </a:r>
          </a:p>
        </p:txBody>
      </p:sp>
      <p:sp>
        <p:nvSpPr>
          <p:cNvPr name="Freeform 12" id="12"/>
          <p:cNvSpPr/>
          <p:nvPr/>
        </p:nvSpPr>
        <p:spPr>
          <a:xfrm flipH="false" flipV="false" rot="0">
            <a:off x="9362715" y="4591644"/>
            <a:ext cx="1662242" cy="1224014"/>
          </a:xfrm>
          <a:custGeom>
            <a:avLst/>
            <a:gdLst/>
            <a:ahLst/>
            <a:cxnLst/>
            <a:rect r="r" b="b" t="t" l="l"/>
            <a:pathLst>
              <a:path h="1224014" w="1662242">
                <a:moveTo>
                  <a:pt x="0" y="0"/>
                </a:moveTo>
                <a:lnTo>
                  <a:pt x="1662242" y="0"/>
                </a:lnTo>
                <a:lnTo>
                  <a:pt x="1662242" y="1224014"/>
                </a:lnTo>
                <a:lnTo>
                  <a:pt x="0" y="12240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9362715" y="6928416"/>
            <a:ext cx="1662242" cy="1224014"/>
          </a:xfrm>
          <a:custGeom>
            <a:avLst/>
            <a:gdLst/>
            <a:ahLst/>
            <a:cxnLst/>
            <a:rect r="r" b="b" t="t" l="l"/>
            <a:pathLst>
              <a:path h="1224014" w="1662242">
                <a:moveTo>
                  <a:pt x="0" y="0"/>
                </a:moveTo>
                <a:lnTo>
                  <a:pt x="1662242" y="0"/>
                </a:lnTo>
                <a:lnTo>
                  <a:pt x="1662242" y="1224015"/>
                </a:lnTo>
                <a:lnTo>
                  <a:pt x="0" y="12240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true" flipV="false" rot="0">
            <a:off x="7263043" y="4591644"/>
            <a:ext cx="1662242" cy="1224014"/>
          </a:xfrm>
          <a:custGeom>
            <a:avLst/>
            <a:gdLst/>
            <a:ahLst/>
            <a:cxnLst/>
            <a:rect r="r" b="b" t="t" l="l"/>
            <a:pathLst>
              <a:path h="1224014" w="1662242">
                <a:moveTo>
                  <a:pt x="1662242" y="0"/>
                </a:moveTo>
                <a:lnTo>
                  <a:pt x="0" y="0"/>
                </a:lnTo>
                <a:lnTo>
                  <a:pt x="0" y="1224014"/>
                </a:lnTo>
                <a:lnTo>
                  <a:pt x="1662242" y="1224014"/>
                </a:lnTo>
                <a:lnTo>
                  <a:pt x="166224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true" flipV="false" rot="0">
            <a:off x="7263043" y="6928416"/>
            <a:ext cx="1662242" cy="1224014"/>
          </a:xfrm>
          <a:custGeom>
            <a:avLst/>
            <a:gdLst/>
            <a:ahLst/>
            <a:cxnLst/>
            <a:rect r="r" b="b" t="t" l="l"/>
            <a:pathLst>
              <a:path h="1224014" w="1662242">
                <a:moveTo>
                  <a:pt x="1662242" y="0"/>
                </a:moveTo>
                <a:lnTo>
                  <a:pt x="0" y="0"/>
                </a:lnTo>
                <a:lnTo>
                  <a:pt x="0" y="1224015"/>
                </a:lnTo>
                <a:lnTo>
                  <a:pt x="1662242" y="1224015"/>
                </a:lnTo>
                <a:lnTo>
                  <a:pt x="166224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7687858" y="4619133"/>
            <a:ext cx="1155512" cy="1050925"/>
          </a:xfrm>
          <a:prstGeom prst="rect">
            <a:avLst/>
          </a:prstGeom>
        </p:spPr>
        <p:txBody>
          <a:bodyPr anchor="t" rtlCol="false" tIns="0" lIns="0" bIns="0" rIns="0">
            <a:spAutoFit/>
          </a:bodyPr>
          <a:lstStyle/>
          <a:p>
            <a:pPr algn="ctr">
              <a:lnSpc>
                <a:spcPts val="7699"/>
              </a:lnSpc>
            </a:pPr>
            <a:r>
              <a:rPr lang="en-US" sz="5499" b="true">
                <a:solidFill>
                  <a:srgbClr val="FFFFFF"/>
                </a:solidFill>
                <a:latin typeface="Calibri (MS) Bold"/>
                <a:ea typeface="Calibri (MS) Bold"/>
                <a:cs typeface="Calibri (MS) Bold"/>
                <a:sym typeface="Calibri (MS) Bold"/>
              </a:rPr>
              <a:t>01</a:t>
            </a:r>
          </a:p>
        </p:txBody>
      </p:sp>
      <p:sp>
        <p:nvSpPr>
          <p:cNvPr name="TextBox 17" id="17"/>
          <p:cNvSpPr txBox="true"/>
          <p:nvPr/>
        </p:nvSpPr>
        <p:spPr>
          <a:xfrm rot="0">
            <a:off x="11463107" y="4101608"/>
            <a:ext cx="5668803" cy="2181225"/>
          </a:xfrm>
          <a:prstGeom prst="rect">
            <a:avLst/>
          </a:prstGeom>
        </p:spPr>
        <p:txBody>
          <a:bodyPr anchor="t" rtlCol="false" tIns="0" lIns="0" bIns="0" rIns="0">
            <a:spAutoFit/>
          </a:bodyPr>
          <a:lstStyle/>
          <a:p>
            <a:pPr algn="l">
              <a:lnSpc>
                <a:spcPts val="4200"/>
              </a:lnSpc>
            </a:pPr>
            <a:r>
              <a:rPr lang="en-US" sz="3000" b="true">
                <a:solidFill>
                  <a:srgbClr val="000000"/>
                </a:solidFill>
                <a:latin typeface="Calibri (MS) Bold"/>
                <a:ea typeface="Calibri (MS) Bold"/>
                <a:cs typeface="Calibri (MS) Bold"/>
                <a:sym typeface="Calibri (MS) Bold"/>
              </a:rPr>
              <a:t>Veri Kalitesi ve Güvenliği:</a:t>
            </a:r>
            <a:r>
              <a:rPr lang="en-US" sz="3000">
                <a:solidFill>
                  <a:srgbClr val="000000"/>
                </a:solidFill>
                <a:latin typeface="Calibri (MS)"/>
                <a:ea typeface="Calibri (MS)"/>
                <a:cs typeface="Calibri (MS)"/>
                <a:sym typeface="Calibri (MS)"/>
              </a:rPr>
              <a:t> Frequency Encoding ile veri sızıntısını sıfırlamak ve nadir riskleri modele dahil etmek.</a:t>
            </a:r>
          </a:p>
        </p:txBody>
      </p:sp>
      <p:sp>
        <p:nvSpPr>
          <p:cNvPr name="TextBox 18" id="18"/>
          <p:cNvSpPr txBox="true"/>
          <p:nvPr/>
        </p:nvSpPr>
        <p:spPr>
          <a:xfrm rot="0">
            <a:off x="11463107" y="6438381"/>
            <a:ext cx="5668803" cy="2181225"/>
          </a:xfrm>
          <a:prstGeom prst="rect">
            <a:avLst/>
          </a:prstGeom>
        </p:spPr>
        <p:txBody>
          <a:bodyPr anchor="t" rtlCol="false" tIns="0" lIns="0" bIns="0" rIns="0">
            <a:spAutoFit/>
          </a:bodyPr>
          <a:lstStyle/>
          <a:p>
            <a:pPr algn="l">
              <a:lnSpc>
                <a:spcPts val="4200"/>
              </a:lnSpc>
            </a:pPr>
            <a:r>
              <a:rPr lang="en-US" sz="3000" b="true">
                <a:solidFill>
                  <a:srgbClr val="000000"/>
                </a:solidFill>
                <a:latin typeface="Calibri (MS) Bold"/>
                <a:ea typeface="Calibri (MS) Bold"/>
                <a:cs typeface="Calibri (MS) Bold"/>
                <a:sym typeface="Calibri (MS) Bold"/>
              </a:rPr>
              <a:t>E-Ticaret Etkisi:</a:t>
            </a:r>
            <a:r>
              <a:rPr lang="en-US" sz="3000">
                <a:solidFill>
                  <a:srgbClr val="000000"/>
                </a:solidFill>
                <a:latin typeface="Calibri (MS)"/>
                <a:ea typeface="Calibri (MS)"/>
                <a:cs typeface="Calibri (MS)"/>
                <a:sym typeface="Calibri (MS)"/>
              </a:rPr>
              <a:t> SCM çevikliğini artırarak e-ticaret müşteri deneyimini optimize etmek ve kargo risklerini minimize etmek.</a:t>
            </a:r>
          </a:p>
        </p:txBody>
      </p:sp>
      <p:sp>
        <p:nvSpPr>
          <p:cNvPr name="TextBox 19" id="19"/>
          <p:cNvSpPr txBox="true"/>
          <p:nvPr/>
        </p:nvSpPr>
        <p:spPr>
          <a:xfrm rot="0">
            <a:off x="7687858" y="6955906"/>
            <a:ext cx="1155512" cy="1050925"/>
          </a:xfrm>
          <a:prstGeom prst="rect">
            <a:avLst/>
          </a:prstGeom>
        </p:spPr>
        <p:txBody>
          <a:bodyPr anchor="t" rtlCol="false" tIns="0" lIns="0" bIns="0" rIns="0">
            <a:spAutoFit/>
          </a:bodyPr>
          <a:lstStyle/>
          <a:p>
            <a:pPr algn="ctr">
              <a:lnSpc>
                <a:spcPts val="7699"/>
              </a:lnSpc>
            </a:pPr>
            <a:r>
              <a:rPr lang="en-US" sz="5499" b="true">
                <a:solidFill>
                  <a:srgbClr val="FFFFFF"/>
                </a:solidFill>
                <a:latin typeface="Calibri (MS) Bold"/>
                <a:ea typeface="Calibri (MS) Bold"/>
                <a:cs typeface="Calibri (MS) Bold"/>
                <a:sym typeface="Calibri (MS) Bold"/>
              </a:rPr>
              <a:t>03</a:t>
            </a:r>
          </a:p>
        </p:txBody>
      </p:sp>
      <p:sp>
        <p:nvSpPr>
          <p:cNvPr name="TextBox 20" id="20"/>
          <p:cNvSpPr txBox="true"/>
          <p:nvPr/>
        </p:nvSpPr>
        <p:spPr>
          <a:xfrm rot="0">
            <a:off x="1028700" y="4051126"/>
            <a:ext cx="5796193" cy="2181225"/>
          </a:xfrm>
          <a:prstGeom prst="rect">
            <a:avLst/>
          </a:prstGeom>
        </p:spPr>
        <p:txBody>
          <a:bodyPr anchor="t" rtlCol="false" tIns="0" lIns="0" bIns="0" rIns="0">
            <a:spAutoFit/>
          </a:bodyPr>
          <a:lstStyle/>
          <a:p>
            <a:pPr algn="r">
              <a:lnSpc>
                <a:spcPts val="4200"/>
              </a:lnSpc>
            </a:pPr>
            <a:r>
              <a:rPr lang="en-US" sz="3000" b="true">
                <a:solidFill>
                  <a:srgbClr val="000000"/>
                </a:solidFill>
                <a:latin typeface="Calibri (MS) Bold"/>
                <a:ea typeface="Calibri (MS) Bold"/>
                <a:cs typeface="Calibri (MS) Bold"/>
                <a:sym typeface="Calibri (MS) Bold"/>
              </a:rPr>
              <a:t>Risk Sınıflandırma Tahmini:</a:t>
            </a:r>
            <a:r>
              <a:rPr lang="en-US" sz="3000">
                <a:solidFill>
                  <a:srgbClr val="000000"/>
                </a:solidFill>
                <a:latin typeface="Calibri (MS)"/>
                <a:ea typeface="Calibri (MS)"/>
                <a:cs typeface="Calibri (MS)"/>
                <a:sym typeface="Calibri (MS)"/>
              </a:rPr>
              <a:t> </a:t>
            </a:r>
          </a:p>
          <a:p>
            <a:pPr algn="r">
              <a:lnSpc>
                <a:spcPts val="4200"/>
              </a:lnSpc>
            </a:pPr>
            <a:r>
              <a:rPr lang="en-US" sz="3000">
                <a:solidFill>
                  <a:srgbClr val="000000"/>
                </a:solidFill>
                <a:latin typeface="Calibri (MS)"/>
                <a:ea typeface="Calibri (MS)"/>
                <a:cs typeface="Calibri (MS)"/>
                <a:sym typeface="Calibri (MS)"/>
              </a:rPr>
              <a:t>Büyük kargo verilerini kullanarak yüksek doğrulukta bir risk sınıflandırma modeli oluşturmak.</a:t>
            </a:r>
          </a:p>
        </p:txBody>
      </p:sp>
      <p:sp>
        <p:nvSpPr>
          <p:cNvPr name="TextBox 21" id="21"/>
          <p:cNvSpPr txBox="true"/>
          <p:nvPr/>
        </p:nvSpPr>
        <p:spPr>
          <a:xfrm rot="0">
            <a:off x="1156090" y="6438381"/>
            <a:ext cx="5668803" cy="1647825"/>
          </a:xfrm>
          <a:prstGeom prst="rect">
            <a:avLst/>
          </a:prstGeom>
        </p:spPr>
        <p:txBody>
          <a:bodyPr anchor="t" rtlCol="false" tIns="0" lIns="0" bIns="0" rIns="0">
            <a:spAutoFit/>
          </a:bodyPr>
          <a:lstStyle/>
          <a:p>
            <a:pPr algn="r">
              <a:lnSpc>
                <a:spcPts val="4200"/>
              </a:lnSpc>
            </a:pPr>
            <a:r>
              <a:rPr lang="en-US" sz="3000" b="true">
                <a:solidFill>
                  <a:srgbClr val="000000"/>
                </a:solidFill>
                <a:latin typeface="Calibri (MS) Bold"/>
                <a:ea typeface="Calibri (MS) Bold"/>
                <a:cs typeface="Calibri (MS) Bold"/>
                <a:sym typeface="Calibri (MS) Bold"/>
              </a:rPr>
              <a:t>Kritik Faktörleri Belirleme:</a:t>
            </a:r>
            <a:r>
              <a:rPr lang="en-US" sz="3000">
                <a:solidFill>
                  <a:srgbClr val="000000"/>
                </a:solidFill>
                <a:latin typeface="Calibri (MS)"/>
                <a:ea typeface="Calibri (MS)"/>
                <a:cs typeface="Calibri (MS)"/>
                <a:sym typeface="Calibri (MS)"/>
              </a:rPr>
              <a:t> </a:t>
            </a:r>
          </a:p>
          <a:p>
            <a:pPr algn="r">
              <a:lnSpc>
                <a:spcPts val="4200"/>
              </a:lnSpc>
            </a:pPr>
            <a:r>
              <a:rPr lang="en-US" sz="3000">
                <a:solidFill>
                  <a:srgbClr val="000000"/>
                </a:solidFill>
                <a:latin typeface="Calibri (MS)"/>
                <a:ea typeface="Calibri (MS)"/>
                <a:cs typeface="Calibri (MS)"/>
                <a:sym typeface="Calibri (MS)"/>
              </a:rPr>
              <a:t>Risk azaltmada en etkili olan operasyonel faktörleri tespit etmek.</a:t>
            </a:r>
          </a:p>
        </p:txBody>
      </p:sp>
      <p:sp>
        <p:nvSpPr>
          <p:cNvPr name="TextBox 22" id="22"/>
          <p:cNvSpPr txBox="true"/>
          <p:nvPr/>
        </p:nvSpPr>
        <p:spPr>
          <a:xfrm rot="0">
            <a:off x="9500638" y="4619133"/>
            <a:ext cx="1155512" cy="1050925"/>
          </a:xfrm>
          <a:prstGeom prst="rect">
            <a:avLst/>
          </a:prstGeom>
        </p:spPr>
        <p:txBody>
          <a:bodyPr anchor="t" rtlCol="false" tIns="0" lIns="0" bIns="0" rIns="0">
            <a:spAutoFit/>
          </a:bodyPr>
          <a:lstStyle/>
          <a:p>
            <a:pPr algn="ctr">
              <a:lnSpc>
                <a:spcPts val="7699"/>
              </a:lnSpc>
            </a:pPr>
            <a:r>
              <a:rPr lang="en-US" sz="5499" b="true">
                <a:solidFill>
                  <a:srgbClr val="FFFFFF"/>
                </a:solidFill>
                <a:latin typeface="Calibri (MS) Bold"/>
                <a:ea typeface="Calibri (MS) Bold"/>
                <a:cs typeface="Calibri (MS) Bold"/>
                <a:sym typeface="Calibri (MS) Bold"/>
              </a:rPr>
              <a:t>02</a:t>
            </a:r>
          </a:p>
        </p:txBody>
      </p:sp>
      <p:sp>
        <p:nvSpPr>
          <p:cNvPr name="TextBox 23" id="23"/>
          <p:cNvSpPr txBox="true"/>
          <p:nvPr/>
        </p:nvSpPr>
        <p:spPr>
          <a:xfrm rot="0">
            <a:off x="9500638" y="6955906"/>
            <a:ext cx="1155512" cy="1050925"/>
          </a:xfrm>
          <a:prstGeom prst="rect">
            <a:avLst/>
          </a:prstGeom>
        </p:spPr>
        <p:txBody>
          <a:bodyPr anchor="t" rtlCol="false" tIns="0" lIns="0" bIns="0" rIns="0">
            <a:spAutoFit/>
          </a:bodyPr>
          <a:lstStyle/>
          <a:p>
            <a:pPr algn="ctr">
              <a:lnSpc>
                <a:spcPts val="7699"/>
              </a:lnSpc>
            </a:pPr>
            <a:r>
              <a:rPr lang="en-US" sz="5499" b="true">
                <a:solidFill>
                  <a:srgbClr val="FFFFFF"/>
                </a:solidFill>
                <a:latin typeface="Calibri (MS) Bold"/>
                <a:ea typeface="Calibri (MS) Bold"/>
                <a:cs typeface="Calibri (MS) Bold"/>
                <a:sym typeface="Calibri (MS) Bold"/>
              </a:rPr>
              <a:t>04</a:t>
            </a:r>
          </a:p>
        </p:txBody>
      </p:sp>
      <p:grpSp>
        <p:nvGrpSpPr>
          <p:cNvPr name="Group 24" id="24"/>
          <p:cNvGrpSpPr/>
          <p:nvPr/>
        </p:nvGrpSpPr>
        <p:grpSpPr>
          <a:xfrm rot="0">
            <a:off x="-2038330" y="-2073710"/>
            <a:ext cx="5041299" cy="5041299"/>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26" id="26"/>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27" id="27"/>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01</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TextBox 11" id="11"/>
          <p:cNvSpPr txBox="true"/>
          <p:nvPr/>
        </p:nvSpPr>
        <p:spPr>
          <a:xfrm rot="0">
            <a:off x="4972755" y="1437240"/>
            <a:ext cx="8342491"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YÖNTEM - METOT</a:t>
            </a:r>
          </a:p>
        </p:txBody>
      </p:sp>
      <p:sp>
        <p:nvSpPr>
          <p:cNvPr name="TextBox 12" id="12"/>
          <p:cNvSpPr txBox="true"/>
          <p:nvPr/>
        </p:nvSpPr>
        <p:spPr>
          <a:xfrm rot="0">
            <a:off x="1293821" y="3986892"/>
            <a:ext cx="15700359" cy="5090795"/>
          </a:xfrm>
          <a:prstGeom prst="rect">
            <a:avLst/>
          </a:prstGeom>
        </p:spPr>
        <p:txBody>
          <a:bodyPr anchor="t" rtlCol="false" tIns="0" lIns="0" bIns="0" rIns="0">
            <a:spAutoFit/>
          </a:bodyPr>
          <a:lstStyle/>
          <a:p>
            <a:pPr algn="just">
              <a:lnSpc>
                <a:spcPts val="4480"/>
              </a:lnSpc>
            </a:pPr>
            <a:r>
              <a:rPr lang="en-US" sz="3200">
                <a:solidFill>
                  <a:srgbClr val="000000"/>
                </a:solidFill>
                <a:latin typeface="Calibri (MS)"/>
                <a:ea typeface="Calibri (MS)"/>
                <a:cs typeface="Calibri (MS)"/>
                <a:sym typeface="Calibri (MS)"/>
              </a:rPr>
              <a:t>Veri Ön İşleme:</a:t>
            </a:r>
          </a:p>
          <a:p>
            <a:pPr algn="just" marL="690881" indent="-345440" lvl="1">
              <a:lnSpc>
                <a:spcPts val="4480"/>
              </a:lnSpc>
              <a:buFont typeface="Arial"/>
              <a:buChar char="•"/>
            </a:pPr>
            <a:r>
              <a:rPr lang="en-US" sz="3200">
                <a:solidFill>
                  <a:srgbClr val="000000"/>
                </a:solidFill>
                <a:latin typeface="Calibri (MS)"/>
                <a:ea typeface="Calibri (MS)"/>
                <a:cs typeface="Calibri (MS)"/>
                <a:sym typeface="Calibri (MS)"/>
              </a:rPr>
              <a:t>4 veri seti birleştirilerek ~650.000 kayıtlı bir veri tabanı oluşturuldu.</a:t>
            </a:r>
          </a:p>
          <a:p>
            <a:pPr algn="just" marL="690881" indent="-345440" lvl="1">
              <a:lnSpc>
                <a:spcPts val="4480"/>
              </a:lnSpc>
              <a:buFont typeface="Arial"/>
              <a:buChar char="•"/>
            </a:pPr>
            <a:r>
              <a:rPr lang="en-US" sz="3200">
                <a:solidFill>
                  <a:srgbClr val="000000"/>
                </a:solidFill>
                <a:latin typeface="Calibri (MS)"/>
                <a:ea typeface="Calibri (MS)"/>
                <a:cs typeface="Calibri (MS)"/>
                <a:sym typeface="Calibri (MS)"/>
              </a:rPr>
              <a:t>Hedef değişken boş olmayan 32.065 gözlem kullanıldı.</a:t>
            </a:r>
          </a:p>
          <a:p>
            <a:pPr algn="just" marL="690881" indent="-345440" lvl="1">
              <a:lnSpc>
                <a:spcPts val="4480"/>
              </a:lnSpc>
              <a:buFont typeface="Arial"/>
              <a:buChar char="•"/>
            </a:pPr>
            <a:r>
              <a:rPr lang="en-US" sz="3200">
                <a:solidFill>
                  <a:srgbClr val="000000"/>
                </a:solidFill>
                <a:latin typeface="Calibri (MS)"/>
                <a:ea typeface="Calibri (MS)"/>
                <a:cs typeface="Calibri (MS)"/>
                <a:sym typeface="Calibri (MS)"/>
              </a:rPr>
              <a:t>Anomaliler</a:t>
            </a:r>
            <a:r>
              <a:rPr lang="en-US" sz="3200">
                <a:solidFill>
                  <a:srgbClr val="000000"/>
                </a:solidFill>
                <a:latin typeface="Calibri (MS)"/>
                <a:ea typeface="Calibri (MS)"/>
                <a:cs typeface="Calibri (MS)"/>
                <a:sym typeface="Calibri (MS)"/>
              </a:rPr>
              <a:t> temizlendi, sayısal veriler ölçeklendi, eksik değerler tamamlandı.</a:t>
            </a:r>
          </a:p>
          <a:p>
            <a:pPr algn="just" marL="690881" indent="-345440" lvl="1">
              <a:lnSpc>
                <a:spcPts val="4480"/>
              </a:lnSpc>
              <a:buFont typeface="Arial"/>
              <a:buChar char="•"/>
            </a:pPr>
            <a:r>
              <a:rPr lang="en-US" sz="3200">
                <a:solidFill>
                  <a:srgbClr val="000000"/>
                </a:solidFill>
                <a:latin typeface="Calibri (MS)"/>
                <a:ea typeface="Calibri (MS)"/>
                <a:cs typeface="Calibri (MS)"/>
                <a:sym typeface="Calibri (MS)"/>
              </a:rPr>
              <a:t>One-Hot yerine Frequency Encoding uygulandı.</a:t>
            </a:r>
          </a:p>
          <a:p>
            <a:pPr algn="just">
              <a:lnSpc>
                <a:spcPts val="4480"/>
              </a:lnSpc>
            </a:pPr>
          </a:p>
          <a:p>
            <a:pPr algn="just">
              <a:lnSpc>
                <a:spcPts val="4480"/>
              </a:lnSpc>
            </a:pPr>
            <a:r>
              <a:rPr lang="en-US" sz="3200">
                <a:solidFill>
                  <a:srgbClr val="000000"/>
                </a:solidFill>
                <a:latin typeface="Calibri (MS)"/>
                <a:ea typeface="Calibri (MS)"/>
                <a:cs typeface="Calibri (MS)"/>
                <a:sym typeface="Calibri (MS)"/>
              </a:rPr>
              <a:t>Modelleme:</a:t>
            </a:r>
          </a:p>
          <a:p>
            <a:pPr algn="just" marL="690881" indent="-345440" lvl="1">
              <a:lnSpc>
                <a:spcPts val="4480"/>
              </a:lnSpc>
              <a:buFont typeface="Arial"/>
              <a:buChar char="•"/>
            </a:pPr>
            <a:r>
              <a:rPr lang="en-US" sz="3200">
                <a:solidFill>
                  <a:srgbClr val="000000"/>
                </a:solidFill>
                <a:latin typeface="Calibri (MS)"/>
                <a:ea typeface="Calibri (MS)"/>
                <a:cs typeface="Calibri (MS)"/>
                <a:sym typeface="Calibri (MS)"/>
              </a:rPr>
              <a:t>Yapay Başarı: Kesinti olasılığı skoru ile model F1=1.00 → Skor hedefi tanımlıyor.</a:t>
            </a:r>
          </a:p>
          <a:p>
            <a:pPr algn="just" marL="690881" indent="-345440" lvl="1">
              <a:lnSpc>
                <a:spcPts val="4480"/>
              </a:lnSpc>
              <a:buFont typeface="Arial"/>
              <a:buChar char="•"/>
            </a:pPr>
            <a:r>
              <a:rPr lang="en-US" sz="3200">
                <a:solidFill>
                  <a:srgbClr val="000000"/>
                </a:solidFill>
                <a:latin typeface="Calibri (MS)"/>
                <a:ea typeface="Calibri (MS)"/>
                <a:cs typeface="Calibri (MS)"/>
                <a:sym typeface="Calibri (MS)"/>
              </a:rPr>
              <a:t>Gerçek Performans: Skor çıkarıldı, XGBoost ve SMOTE ile Weighted F1=0.6393 elde edildi.</a:t>
            </a:r>
          </a:p>
        </p:txBody>
      </p:sp>
      <p:grpSp>
        <p:nvGrpSpPr>
          <p:cNvPr name="Group 13" id="13"/>
          <p:cNvGrpSpPr/>
          <p:nvPr/>
        </p:nvGrpSpPr>
        <p:grpSpPr>
          <a:xfrm rot="0">
            <a:off x="-2038330" y="-2073710"/>
            <a:ext cx="5041299" cy="504129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5" id="15"/>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6" id="16"/>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TextBox 11" id="11"/>
          <p:cNvSpPr txBox="true"/>
          <p:nvPr/>
        </p:nvSpPr>
        <p:spPr>
          <a:xfrm rot="0">
            <a:off x="4972755" y="1437240"/>
            <a:ext cx="8342491"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YÖNTEM - METOT</a:t>
            </a:r>
          </a:p>
        </p:txBody>
      </p:sp>
      <p:sp>
        <p:nvSpPr>
          <p:cNvPr name="TextBox 12" id="12"/>
          <p:cNvSpPr txBox="true"/>
          <p:nvPr/>
        </p:nvSpPr>
        <p:spPr>
          <a:xfrm rot="0">
            <a:off x="1795704" y="3957070"/>
            <a:ext cx="14696592" cy="4547870"/>
          </a:xfrm>
          <a:prstGeom prst="rect">
            <a:avLst/>
          </a:prstGeom>
        </p:spPr>
        <p:txBody>
          <a:bodyPr anchor="t" rtlCol="false" tIns="0" lIns="0" bIns="0" rIns="0">
            <a:spAutoFit/>
          </a:bodyPr>
          <a:lstStyle/>
          <a:p>
            <a:pPr algn="just">
              <a:lnSpc>
                <a:spcPts val="4479"/>
              </a:lnSpc>
            </a:pPr>
            <a:r>
              <a:rPr lang="en-US" sz="3199">
                <a:solidFill>
                  <a:srgbClr val="000000"/>
                </a:solidFill>
                <a:latin typeface="Calibri (MS)"/>
                <a:ea typeface="Calibri (MS)"/>
                <a:cs typeface="Calibri (MS)"/>
                <a:sym typeface="Calibri (MS)"/>
              </a:rPr>
              <a:t>Metodolojik Denemeler:</a:t>
            </a:r>
          </a:p>
          <a:p>
            <a:pPr algn="just" marL="690877" indent="-345439" lvl="1">
              <a:lnSpc>
                <a:spcPts val="4479"/>
              </a:lnSpc>
              <a:buFont typeface="Arial"/>
              <a:buChar char="•"/>
            </a:pPr>
            <a:r>
              <a:rPr lang="en-US" sz="3199">
                <a:solidFill>
                  <a:srgbClr val="000000"/>
                </a:solidFill>
                <a:latin typeface="Calibri (MS)"/>
                <a:ea typeface="Calibri (MS)"/>
                <a:cs typeface="Calibri (MS)"/>
                <a:sym typeface="Calibri (MS)"/>
              </a:rPr>
              <a:t>Kara Kutu Kırma (MLP/XGBoost Regressor): R²&lt;0, Skor çözülmedi → Kara Kutu kanıtı.</a:t>
            </a:r>
          </a:p>
          <a:p>
            <a:pPr algn="just" marL="690877" indent="-345439" lvl="1">
              <a:lnSpc>
                <a:spcPts val="4479"/>
              </a:lnSpc>
              <a:buFont typeface="Arial"/>
              <a:buChar char="•"/>
            </a:pPr>
            <a:r>
              <a:rPr lang="en-US" sz="3199">
                <a:solidFill>
                  <a:srgbClr val="000000"/>
                </a:solidFill>
                <a:latin typeface="Calibri (MS)"/>
                <a:ea typeface="Calibri (MS)"/>
                <a:cs typeface="Calibri (MS)"/>
                <a:sym typeface="Calibri (MS)"/>
              </a:rPr>
              <a:t>Öznitelik Mühendisliği: Low/Moderate Risk iyileştirilemedi → Mevcut öznitelikler yeterli sinyali taşımıyor.</a:t>
            </a:r>
          </a:p>
          <a:p>
            <a:pPr algn="just">
              <a:lnSpc>
                <a:spcPts val="4479"/>
              </a:lnSpc>
            </a:pPr>
          </a:p>
          <a:p>
            <a:pPr algn="just">
              <a:lnSpc>
                <a:spcPts val="4479"/>
              </a:lnSpc>
            </a:pPr>
            <a:r>
              <a:rPr lang="en-US" sz="3199">
                <a:solidFill>
                  <a:srgbClr val="000000"/>
                </a:solidFill>
                <a:latin typeface="Calibri (MS)"/>
                <a:ea typeface="Calibri (MS)"/>
                <a:cs typeface="Calibri (MS)"/>
                <a:sym typeface="Calibri (MS)"/>
              </a:rPr>
              <a:t>Çıkarım:</a:t>
            </a:r>
          </a:p>
          <a:p>
            <a:pPr algn="just" marL="690877" indent="-345439" lvl="1">
              <a:lnSpc>
                <a:spcPts val="4479"/>
              </a:lnSpc>
              <a:buFont typeface="Arial"/>
              <a:buChar char="•"/>
            </a:pPr>
            <a:r>
              <a:rPr lang="en-US" sz="3199">
                <a:solidFill>
                  <a:srgbClr val="000000"/>
                </a:solidFill>
                <a:latin typeface="Calibri (MS)"/>
                <a:ea typeface="Calibri (MS)"/>
                <a:cs typeface="Calibri (MS)"/>
                <a:sym typeface="Calibri (MS)"/>
              </a:rPr>
              <a:t>F1=0.6393, mevcut veri ile maksimum gerçek performansı temsil eder.</a:t>
            </a:r>
          </a:p>
          <a:p>
            <a:pPr algn="just" marL="690877" indent="-345439" lvl="1">
              <a:lnSpc>
                <a:spcPts val="4479"/>
              </a:lnSpc>
              <a:buFont typeface="Arial"/>
              <a:buChar char="•"/>
            </a:pPr>
            <a:r>
              <a:rPr lang="en-US" sz="3199">
                <a:solidFill>
                  <a:srgbClr val="000000"/>
                </a:solidFill>
                <a:latin typeface="Calibri (MS)"/>
                <a:ea typeface="Calibri (MS)"/>
                <a:cs typeface="Calibri (MS)"/>
                <a:sym typeface="Calibri (MS)"/>
              </a:rPr>
              <a:t>Feature Importance sonuçları, eyleme dönük tavsiyelerin temelini oluşturur.</a:t>
            </a:r>
          </a:p>
        </p:txBody>
      </p:sp>
      <p:grpSp>
        <p:nvGrpSpPr>
          <p:cNvPr name="Group 13" id="13"/>
          <p:cNvGrpSpPr/>
          <p:nvPr/>
        </p:nvGrpSpPr>
        <p:grpSpPr>
          <a:xfrm rot="0">
            <a:off x="-2038330" y="-2073710"/>
            <a:ext cx="5041299" cy="504129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5" id="15"/>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6" id="16"/>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518419" y="1612560"/>
            <a:ext cx="17251162" cy="7061879"/>
          </a:xfrm>
          <a:custGeom>
            <a:avLst/>
            <a:gdLst/>
            <a:ahLst/>
            <a:cxnLst/>
            <a:rect r="r" b="b" t="t" l="l"/>
            <a:pathLst>
              <a:path h="7061879" w="17251162">
                <a:moveTo>
                  <a:pt x="0" y="0"/>
                </a:moveTo>
                <a:lnTo>
                  <a:pt x="17251162" y="0"/>
                </a:lnTo>
                <a:lnTo>
                  <a:pt x="17251162" y="7061880"/>
                </a:lnTo>
                <a:lnTo>
                  <a:pt x="0" y="7061880"/>
                </a:lnTo>
                <a:lnTo>
                  <a:pt x="0" y="0"/>
                </a:lnTo>
                <a:close/>
              </a:path>
            </a:pathLst>
          </a:custGeom>
          <a:blipFill>
            <a:blip r:embed="rId4"/>
            <a:stretch>
              <a:fillRect l="0" t="0" r="0" b="0"/>
            </a:stretch>
          </a:blipFill>
        </p:spPr>
      </p:sp>
      <p:sp>
        <p:nvSpPr>
          <p:cNvPr name="TextBox 12" id="12"/>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786003" y="996134"/>
            <a:ext cx="16715995" cy="8294732"/>
          </a:xfrm>
          <a:custGeom>
            <a:avLst/>
            <a:gdLst/>
            <a:ahLst/>
            <a:cxnLst/>
            <a:rect r="r" b="b" t="t" l="l"/>
            <a:pathLst>
              <a:path h="8294732" w="16715995">
                <a:moveTo>
                  <a:pt x="0" y="0"/>
                </a:moveTo>
                <a:lnTo>
                  <a:pt x="16715994" y="0"/>
                </a:lnTo>
                <a:lnTo>
                  <a:pt x="16715994" y="8294732"/>
                </a:lnTo>
                <a:lnTo>
                  <a:pt x="0" y="8294732"/>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TextBox 11" id="11"/>
          <p:cNvSpPr txBox="true"/>
          <p:nvPr/>
        </p:nvSpPr>
        <p:spPr>
          <a:xfrm rot="0">
            <a:off x="5105613" y="1563344"/>
            <a:ext cx="8076775"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NEDEN XGBOOST ?</a:t>
            </a:r>
          </a:p>
        </p:txBody>
      </p:sp>
      <p:sp>
        <p:nvSpPr>
          <p:cNvPr name="TextBox 12" id="12"/>
          <p:cNvSpPr txBox="true"/>
          <p:nvPr/>
        </p:nvSpPr>
        <p:spPr>
          <a:xfrm rot="0">
            <a:off x="2006178" y="3615055"/>
            <a:ext cx="14356125" cy="1737995"/>
          </a:xfrm>
          <a:prstGeom prst="rect">
            <a:avLst/>
          </a:prstGeom>
        </p:spPr>
        <p:txBody>
          <a:bodyPr anchor="t" rtlCol="false" tIns="0" lIns="0" bIns="0" rIns="0">
            <a:spAutoFit/>
          </a:bodyPr>
          <a:lstStyle/>
          <a:p>
            <a:pPr algn="just">
              <a:lnSpc>
                <a:spcPts val="4479"/>
              </a:lnSpc>
            </a:pPr>
            <a:r>
              <a:rPr lang="en-US" sz="3199">
                <a:solidFill>
                  <a:srgbClr val="000000"/>
                </a:solidFill>
                <a:latin typeface="Calibri (MS)"/>
                <a:ea typeface="Calibri (MS)"/>
                <a:cs typeface="Calibri (MS)"/>
                <a:sym typeface="Calibri (MS)"/>
              </a:rPr>
              <a:t>AÇIKLANABİLİRLİK: </a:t>
            </a:r>
          </a:p>
          <a:p>
            <a:pPr algn="just" marL="690879" indent="-345439" lvl="1">
              <a:lnSpc>
                <a:spcPts val="4479"/>
              </a:lnSpc>
              <a:buFont typeface="Arial"/>
              <a:buChar char="•"/>
            </a:pPr>
            <a:r>
              <a:rPr lang="en-US" sz="3199">
                <a:solidFill>
                  <a:srgbClr val="000000"/>
                </a:solidFill>
                <a:latin typeface="Calibri (MS)"/>
                <a:ea typeface="Calibri (MS)"/>
                <a:cs typeface="Calibri (MS)"/>
                <a:sym typeface="Calibri (MS)"/>
              </a:rPr>
              <a:t>Projenin asıl amacı riski yönetmektir, tahmin etmek değil. XGBoost, DF1_Weather ve DF1_Traffic gibi faktörlerin yüzdesel etkisini gösteren tek güvenilir araçtır. </a:t>
            </a:r>
          </a:p>
        </p:txBody>
      </p:sp>
      <p:grpSp>
        <p:nvGrpSpPr>
          <p:cNvPr name="Group 13" id="13"/>
          <p:cNvGrpSpPr/>
          <p:nvPr/>
        </p:nvGrpSpPr>
        <p:grpSpPr>
          <a:xfrm rot="0">
            <a:off x="-2038330" y="-2073710"/>
            <a:ext cx="5041299" cy="504129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5" id="15"/>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6" id="16"/>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02</a:t>
            </a:r>
          </a:p>
        </p:txBody>
      </p:sp>
      <p:sp>
        <p:nvSpPr>
          <p:cNvPr name="TextBox 17" id="17"/>
          <p:cNvSpPr txBox="true"/>
          <p:nvPr/>
        </p:nvSpPr>
        <p:spPr>
          <a:xfrm rot="0">
            <a:off x="2006178" y="5567680"/>
            <a:ext cx="14356125" cy="1737995"/>
          </a:xfrm>
          <a:prstGeom prst="rect">
            <a:avLst/>
          </a:prstGeom>
        </p:spPr>
        <p:txBody>
          <a:bodyPr anchor="t" rtlCol="false" tIns="0" lIns="0" bIns="0" rIns="0">
            <a:spAutoFit/>
          </a:bodyPr>
          <a:lstStyle/>
          <a:p>
            <a:pPr algn="just">
              <a:lnSpc>
                <a:spcPts val="4479"/>
              </a:lnSpc>
            </a:pPr>
            <a:r>
              <a:rPr lang="en-US" sz="3199">
                <a:solidFill>
                  <a:srgbClr val="000000"/>
                </a:solidFill>
                <a:latin typeface="Calibri (MS)"/>
                <a:ea typeface="Calibri (MS)"/>
                <a:cs typeface="Calibri (MS)"/>
                <a:sym typeface="Calibri (MS)"/>
              </a:rPr>
              <a:t>GERÇEK PERFORMANS: </a:t>
            </a:r>
          </a:p>
          <a:p>
            <a:pPr algn="just" marL="690879" indent="-345439" lvl="1">
              <a:lnSpc>
                <a:spcPts val="4479"/>
              </a:lnSpc>
              <a:buFont typeface="Arial"/>
              <a:buChar char="•"/>
            </a:pPr>
            <a:r>
              <a:rPr lang="en-US" sz="3199">
                <a:solidFill>
                  <a:srgbClr val="000000"/>
                </a:solidFill>
                <a:latin typeface="Calibri (MS)"/>
                <a:ea typeface="Calibri (MS)"/>
                <a:cs typeface="Calibri (MS)"/>
                <a:sym typeface="Calibri (MS)"/>
              </a:rPr>
              <a:t>0.6393 F1-Skoru, modelin önceki 1.00'lük yapay başarının ötesindeki gerçek gücünü temsil eder. XGBoost, bu zorlu seviyede bile en yüksek kararlılığı sağlar. </a:t>
            </a:r>
          </a:p>
        </p:txBody>
      </p:sp>
      <p:sp>
        <p:nvSpPr>
          <p:cNvPr name="TextBox 18" id="18"/>
          <p:cNvSpPr txBox="true"/>
          <p:nvPr/>
        </p:nvSpPr>
        <p:spPr>
          <a:xfrm rot="0">
            <a:off x="1925697" y="7520305"/>
            <a:ext cx="14356125" cy="1737995"/>
          </a:xfrm>
          <a:prstGeom prst="rect">
            <a:avLst/>
          </a:prstGeom>
        </p:spPr>
        <p:txBody>
          <a:bodyPr anchor="t" rtlCol="false" tIns="0" lIns="0" bIns="0" rIns="0">
            <a:spAutoFit/>
          </a:bodyPr>
          <a:lstStyle/>
          <a:p>
            <a:pPr algn="just">
              <a:lnSpc>
                <a:spcPts val="4479"/>
              </a:lnSpc>
            </a:pPr>
            <a:r>
              <a:rPr lang="en-US" sz="3199">
                <a:solidFill>
                  <a:srgbClr val="000000"/>
                </a:solidFill>
                <a:latin typeface="Calibri (MS)"/>
                <a:ea typeface="Calibri (MS)"/>
                <a:cs typeface="Calibri (MS)"/>
                <a:sym typeface="Calibri (MS)"/>
              </a:rPr>
              <a:t>DAYANIKLILIK: </a:t>
            </a:r>
          </a:p>
          <a:p>
            <a:pPr algn="just" marL="690879" indent="-345439" lvl="1">
              <a:lnSpc>
                <a:spcPts val="4479"/>
              </a:lnSpc>
              <a:buFont typeface="Arial"/>
              <a:buChar char="•"/>
            </a:pPr>
            <a:r>
              <a:rPr lang="en-US" sz="3199">
                <a:solidFill>
                  <a:srgbClr val="000000"/>
                </a:solidFill>
                <a:latin typeface="Calibri (MS)"/>
                <a:ea typeface="Calibri (MS)"/>
                <a:cs typeface="Calibri (MS)"/>
                <a:sym typeface="Calibri (MS)"/>
              </a:rPr>
              <a:t>RobustScaler ve SMOTE ile uyumu sayesinde, aykırı değerler ve sınıf dengesizlikleri karşısında dahi güvenilir sonuçlar verir.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3273691" y="1437240"/>
            <a:ext cx="11740619"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BULGULAR - SONUÇLAR</a:t>
            </a:r>
          </a:p>
        </p:txBody>
      </p:sp>
      <p:sp>
        <p:nvSpPr>
          <p:cNvPr name="TextBox 15" id="15"/>
          <p:cNvSpPr txBox="true"/>
          <p:nvPr/>
        </p:nvSpPr>
        <p:spPr>
          <a:xfrm rot="0">
            <a:off x="1205179" y="3838575"/>
            <a:ext cx="15877642" cy="4994276"/>
          </a:xfrm>
          <a:prstGeom prst="rect">
            <a:avLst/>
          </a:prstGeom>
        </p:spPr>
        <p:txBody>
          <a:bodyPr anchor="t" rtlCol="false" tIns="0" lIns="0" bIns="0" rIns="0">
            <a:spAutoFit/>
          </a:bodyPr>
          <a:lstStyle/>
          <a:p>
            <a:pPr algn="just">
              <a:lnSpc>
                <a:spcPts val="5599"/>
              </a:lnSpc>
            </a:pPr>
            <a:r>
              <a:rPr lang="en-US" sz="3999">
                <a:solidFill>
                  <a:srgbClr val="000000"/>
                </a:solidFill>
                <a:latin typeface="Calibri (MS)"/>
                <a:ea typeface="Calibri (MS)"/>
                <a:cs typeface="Calibri (MS)"/>
                <a:sym typeface="Calibri (MS)"/>
              </a:rPr>
              <a:t>KARGO RİSK ANALİZİNİN METODOLOJİK YOLCULUĞU </a:t>
            </a:r>
          </a:p>
          <a:p>
            <a:pPr algn="just">
              <a:lnSpc>
                <a:spcPts val="5599"/>
              </a:lnSpc>
            </a:pPr>
          </a:p>
          <a:p>
            <a:pPr algn="just">
              <a:lnSpc>
                <a:spcPts val="5599"/>
              </a:lnSpc>
            </a:pPr>
            <a:r>
              <a:rPr lang="en-US" sz="3999">
                <a:solidFill>
                  <a:srgbClr val="000000"/>
                </a:solidFill>
                <a:latin typeface="Calibri (MS)"/>
                <a:ea typeface="Calibri (MS)"/>
                <a:cs typeface="Calibri (MS)"/>
                <a:sym typeface="Calibri (MS)"/>
              </a:rPr>
              <a:t>Kilit Amaç: Kara Kutu'yu Açma Girişimi</a:t>
            </a:r>
          </a:p>
          <a:p>
            <a:pPr algn="just">
              <a:lnSpc>
                <a:spcPts val="5599"/>
              </a:lnSpc>
            </a:pPr>
          </a:p>
          <a:p>
            <a:pPr algn="just" marL="863595" indent="-431797" lvl="1">
              <a:lnSpc>
                <a:spcPts val="5599"/>
              </a:lnSpc>
              <a:buFont typeface="Arial"/>
              <a:buChar char="•"/>
            </a:pPr>
            <a:r>
              <a:rPr lang="en-US" sz="3999">
                <a:solidFill>
                  <a:srgbClr val="000000"/>
                </a:solidFill>
                <a:latin typeface="Calibri (MS)"/>
                <a:ea typeface="Calibri (MS)"/>
                <a:cs typeface="Calibri (MS)"/>
                <a:sym typeface="Calibri (MS)"/>
              </a:rPr>
              <a:t>Çalışmanın temel amacı, modeli domine eden tescilli DF2_disruption_likelihood_score metriğinin alt formülünü çözmek ve riski minimize edecek operasyonel eylemleri belirlemekti.</a:t>
            </a:r>
          </a:p>
        </p:txBody>
      </p:sp>
      <p:sp>
        <p:nvSpPr>
          <p:cNvPr name="TextBox 16" id="16"/>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3273691" y="1437240"/>
            <a:ext cx="11740619"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I. YAPAY BAŞARI:</a:t>
            </a:r>
          </a:p>
        </p:txBody>
      </p:sp>
      <p:sp>
        <p:nvSpPr>
          <p:cNvPr name="TextBox 15" id="15"/>
          <p:cNvSpPr txBox="true"/>
          <p:nvPr/>
        </p:nvSpPr>
        <p:spPr>
          <a:xfrm rot="0">
            <a:off x="1205179" y="3838575"/>
            <a:ext cx="15877642" cy="2879726"/>
          </a:xfrm>
          <a:prstGeom prst="rect">
            <a:avLst/>
          </a:prstGeom>
        </p:spPr>
        <p:txBody>
          <a:bodyPr anchor="t" rtlCol="false" tIns="0" lIns="0" bIns="0" rIns="0">
            <a:spAutoFit/>
          </a:bodyPr>
          <a:lstStyle/>
          <a:p>
            <a:pPr algn="just" marL="863595" indent="-431797" lvl="1">
              <a:lnSpc>
                <a:spcPts val="5599"/>
              </a:lnSpc>
              <a:buFont typeface="Arial"/>
              <a:buChar char="•"/>
            </a:pPr>
            <a:r>
              <a:rPr lang="en-US" sz="3999">
                <a:solidFill>
                  <a:srgbClr val="000000"/>
                </a:solidFill>
                <a:latin typeface="Calibri (MS)"/>
                <a:ea typeface="Calibri (MS)"/>
                <a:cs typeface="Calibri (MS)"/>
                <a:sym typeface="Calibri (MS)"/>
              </a:rPr>
              <a:t>Çalışma, DF2_disruption_likelihood_score girdisiyle eğitilen XGBoost Sınıflandırma Modelinin F1=1.00 ile kusursuz bir başarı göstermesiyle başladı. Bu skor, modelin skorun sonucunu okuyarak risk sınıfını çözdüğünü gösteren bir yapay başarıydı. </a:t>
            </a:r>
          </a:p>
        </p:txBody>
      </p:sp>
      <p:sp>
        <p:nvSpPr>
          <p:cNvPr name="TextBox 16" id="16"/>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1160932" y="664606"/>
            <a:ext cx="15966136" cy="9108663"/>
          </a:xfrm>
          <a:custGeom>
            <a:avLst/>
            <a:gdLst/>
            <a:ahLst/>
            <a:cxnLst/>
            <a:rect r="r" b="b" t="t" l="l"/>
            <a:pathLst>
              <a:path h="9108663" w="15966136">
                <a:moveTo>
                  <a:pt x="0" y="0"/>
                </a:moveTo>
                <a:lnTo>
                  <a:pt x="15966136" y="0"/>
                </a:lnTo>
                <a:lnTo>
                  <a:pt x="15966136" y="9108664"/>
                </a:lnTo>
                <a:lnTo>
                  <a:pt x="0" y="9108664"/>
                </a:lnTo>
                <a:lnTo>
                  <a:pt x="0" y="0"/>
                </a:lnTo>
                <a:close/>
              </a:path>
            </a:pathLst>
          </a:custGeom>
          <a:blipFill>
            <a:blip r:embed="rId4"/>
            <a:stretch>
              <a:fillRect l="0" t="0" r="0" b="0"/>
            </a:stretch>
          </a:blipFill>
        </p:spPr>
      </p:sp>
      <p:sp>
        <p:nvSpPr>
          <p:cNvPr name="TextBox 12" id="12"/>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3273691" y="1437240"/>
            <a:ext cx="11740619" cy="2949574"/>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II. TERSİNE MÜHENDİSLİK (XGBOOST REGRESYONU):</a:t>
            </a:r>
          </a:p>
        </p:txBody>
      </p:sp>
      <p:sp>
        <p:nvSpPr>
          <p:cNvPr name="TextBox 15" id="15"/>
          <p:cNvSpPr txBox="true"/>
          <p:nvPr/>
        </p:nvSpPr>
        <p:spPr>
          <a:xfrm rot="0">
            <a:off x="1205179" y="4981575"/>
            <a:ext cx="15877642" cy="2879726"/>
          </a:xfrm>
          <a:prstGeom prst="rect">
            <a:avLst/>
          </a:prstGeom>
        </p:spPr>
        <p:txBody>
          <a:bodyPr anchor="t" rtlCol="false" tIns="0" lIns="0" bIns="0" rIns="0">
            <a:spAutoFit/>
          </a:bodyPr>
          <a:lstStyle/>
          <a:p>
            <a:pPr algn="just" marL="863595" indent="-431797" lvl="1">
              <a:lnSpc>
                <a:spcPts val="5599"/>
              </a:lnSpc>
              <a:buFont typeface="Arial"/>
              <a:buChar char="•"/>
            </a:pPr>
            <a:r>
              <a:rPr lang="en-US" sz="3999">
                <a:solidFill>
                  <a:srgbClr val="000000"/>
                </a:solidFill>
                <a:latin typeface="Calibri (MS)"/>
                <a:ea typeface="Calibri (MS)"/>
                <a:cs typeface="Calibri (MS)"/>
                <a:sym typeface="Calibri (MS)"/>
              </a:rPr>
              <a:t>Bu başarının kökenini sorgulamak için XGBoost Regressor ile kesinti olasılığı skorunu tahmin etme girişimi yapıldı. Sonuç R² değeri −0.1235 ile negatif çıktı. Bu, skorun lineer bir kombinasyonla çözülemeyeceğini gösteren ilk kanıttı. </a:t>
            </a:r>
          </a:p>
        </p:txBody>
      </p:sp>
      <p:sp>
        <p:nvSpPr>
          <p:cNvPr name="TextBox 16" id="16"/>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1930707" y="356275"/>
            <a:ext cx="14426585" cy="9574449"/>
          </a:xfrm>
          <a:custGeom>
            <a:avLst/>
            <a:gdLst/>
            <a:ahLst/>
            <a:cxnLst/>
            <a:rect r="r" b="b" t="t" l="l"/>
            <a:pathLst>
              <a:path h="9574449" w="14426585">
                <a:moveTo>
                  <a:pt x="0" y="0"/>
                </a:moveTo>
                <a:lnTo>
                  <a:pt x="14426586" y="0"/>
                </a:lnTo>
                <a:lnTo>
                  <a:pt x="14426586" y="9574450"/>
                </a:lnTo>
                <a:lnTo>
                  <a:pt x="0" y="9574450"/>
                </a:lnTo>
                <a:lnTo>
                  <a:pt x="0" y="0"/>
                </a:lnTo>
                <a:close/>
              </a:path>
            </a:pathLst>
          </a:custGeom>
          <a:blipFill>
            <a:blip r:embed="rId4"/>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2677107" y="1437240"/>
            <a:ext cx="15142756"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III. ÖZELLİK MÜHENDİSLİĞİ VE İSPAT </a:t>
            </a:r>
          </a:p>
        </p:txBody>
      </p:sp>
      <p:sp>
        <p:nvSpPr>
          <p:cNvPr name="TextBox 15" id="15"/>
          <p:cNvSpPr txBox="true"/>
          <p:nvPr/>
        </p:nvSpPr>
        <p:spPr>
          <a:xfrm rot="0">
            <a:off x="1205179" y="3836780"/>
            <a:ext cx="15877642" cy="2174876"/>
          </a:xfrm>
          <a:prstGeom prst="rect">
            <a:avLst/>
          </a:prstGeom>
        </p:spPr>
        <p:txBody>
          <a:bodyPr anchor="t" rtlCol="false" tIns="0" lIns="0" bIns="0" rIns="0">
            <a:spAutoFit/>
          </a:bodyPr>
          <a:lstStyle/>
          <a:p>
            <a:pPr algn="just" marL="863595" indent="-431797" lvl="1">
              <a:lnSpc>
                <a:spcPts val="5599"/>
              </a:lnSpc>
              <a:buFont typeface="Arial"/>
              <a:buChar char="•"/>
            </a:pPr>
            <a:r>
              <a:rPr lang="en-US" sz="3999">
                <a:solidFill>
                  <a:srgbClr val="000000"/>
                </a:solidFill>
                <a:latin typeface="Calibri (MS)"/>
                <a:ea typeface="Calibri (MS)"/>
                <a:cs typeface="Calibri (MS)"/>
                <a:sym typeface="Calibri (MS)"/>
              </a:rPr>
              <a:t>Skorun alt bileşenlerini yakalamak amacıyla, Interaction ve Pseudo Index gibi basit kural tabanlı öznitelikler yaratıldı. Bu girişimler, öznitelik önem düzeyini anlamlı ölçüde değiştirmekte başarısız oldu. </a:t>
            </a:r>
          </a:p>
        </p:txBody>
      </p:sp>
      <p:sp>
        <p:nvSpPr>
          <p:cNvPr name="TextBox 16" id="16"/>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
        <p:nvSpPr>
          <p:cNvPr name="TextBox 17" id="17"/>
          <p:cNvSpPr txBox="true"/>
          <p:nvPr/>
        </p:nvSpPr>
        <p:spPr>
          <a:xfrm rot="0">
            <a:off x="1205179" y="6378574"/>
            <a:ext cx="15877642" cy="2879726"/>
          </a:xfrm>
          <a:prstGeom prst="rect">
            <a:avLst/>
          </a:prstGeom>
        </p:spPr>
        <p:txBody>
          <a:bodyPr anchor="t" rtlCol="false" tIns="0" lIns="0" bIns="0" rIns="0">
            <a:spAutoFit/>
          </a:bodyPr>
          <a:lstStyle/>
          <a:p>
            <a:pPr algn="just" marL="863595" indent="-431797" lvl="1">
              <a:lnSpc>
                <a:spcPts val="5599"/>
              </a:lnSpc>
              <a:buFont typeface="Arial"/>
              <a:buChar char="•"/>
            </a:pPr>
            <a:r>
              <a:rPr lang="en-US" sz="3999">
                <a:solidFill>
                  <a:srgbClr val="000000"/>
                </a:solidFill>
                <a:latin typeface="Calibri (MS)"/>
                <a:ea typeface="Calibri (MS)"/>
                <a:cs typeface="Calibri (MS)"/>
                <a:sym typeface="Calibri (MS)"/>
              </a:rPr>
              <a:t>Model, dolaylı ve hatalı (Pseudo) öznitelikleri kullanmak yerine, hedefi mükemmel yansıtan DF2_disruption_likelihood_score'u kullanmayı tercih etmiştir. Bu da, yapay özniteliklerimizin öneminin 0.001 seviyesinde kalmasına yol açmıştır.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3453708" y="603925"/>
            <a:ext cx="11380583" cy="9079151"/>
          </a:xfrm>
          <a:custGeom>
            <a:avLst/>
            <a:gdLst/>
            <a:ahLst/>
            <a:cxnLst/>
            <a:rect r="r" b="b" t="t" l="l"/>
            <a:pathLst>
              <a:path h="9079151" w="11380583">
                <a:moveTo>
                  <a:pt x="0" y="0"/>
                </a:moveTo>
                <a:lnTo>
                  <a:pt x="11380584" y="0"/>
                </a:lnTo>
                <a:lnTo>
                  <a:pt x="11380584" y="9079150"/>
                </a:lnTo>
                <a:lnTo>
                  <a:pt x="0" y="9079150"/>
                </a:lnTo>
                <a:lnTo>
                  <a:pt x="0" y="0"/>
                </a:lnTo>
                <a:close/>
              </a:path>
            </a:pathLst>
          </a:custGeom>
          <a:blipFill>
            <a:blip r:embed="rId4"/>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1572622" y="958294"/>
            <a:ext cx="15142756" cy="2949574"/>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YARATILAN SENTETİK ÖZNİTELİKLERİN TANIMI</a:t>
            </a:r>
          </a:p>
        </p:txBody>
      </p:sp>
      <p:sp>
        <p:nvSpPr>
          <p:cNvPr name="TextBox 15" id="15"/>
          <p:cNvSpPr txBox="true"/>
          <p:nvPr/>
        </p:nvSpPr>
        <p:spPr>
          <a:xfrm rot="0">
            <a:off x="1205179" y="4110990"/>
            <a:ext cx="15877642" cy="5147310"/>
          </a:xfrm>
          <a:prstGeom prst="rect">
            <a:avLst/>
          </a:prstGeom>
        </p:spPr>
        <p:txBody>
          <a:bodyPr anchor="t" rtlCol="false" tIns="0" lIns="0" bIns="0" rIns="0">
            <a:spAutoFit/>
          </a:bodyPr>
          <a:lstStyle/>
          <a:p>
            <a:pPr algn="just">
              <a:lnSpc>
                <a:spcPts val="5040"/>
              </a:lnSpc>
            </a:pPr>
            <a:r>
              <a:rPr lang="en-US" sz="3600">
                <a:solidFill>
                  <a:srgbClr val="000000"/>
                </a:solidFill>
                <a:latin typeface="Calibri (MS)"/>
                <a:ea typeface="Calibri (MS)"/>
                <a:cs typeface="Calibri (MS)"/>
                <a:sym typeface="Calibri (MS)"/>
              </a:rPr>
              <a:t>1. Interaction_RI_Weather (Etkileşim Terimi)</a:t>
            </a:r>
          </a:p>
          <a:p>
            <a:pPr algn="just" marL="777240" indent="-388620" lvl="1">
              <a:lnSpc>
                <a:spcPts val="5040"/>
              </a:lnSpc>
              <a:buFont typeface="Arial"/>
              <a:buChar char="•"/>
            </a:pPr>
            <a:r>
              <a:rPr lang="en-US" sz="3600">
                <a:solidFill>
                  <a:srgbClr val="000000"/>
                </a:solidFill>
                <a:latin typeface="Calibri (MS)"/>
                <a:ea typeface="Calibri (MS)"/>
                <a:cs typeface="Calibri (MS)"/>
                <a:sym typeface="Calibri (MS)"/>
              </a:rPr>
              <a:t>Amaç: Basit Bir Etkileşim Kuralını Yakalamak.</a:t>
            </a:r>
          </a:p>
          <a:p>
            <a:pPr algn="just" marL="777240" indent="-388620" lvl="1">
              <a:lnSpc>
                <a:spcPts val="5040"/>
              </a:lnSpc>
              <a:buFont typeface="Arial"/>
              <a:buChar char="•"/>
            </a:pPr>
            <a:r>
              <a:rPr lang="en-US" sz="3600">
                <a:solidFill>
                  <a:srgbClr val="000000"/>
                </a:solidFill>
                <a:latin typeface="Calibri (MS)"/>
                <a:ea typeface="Calibri (MS)"/>
                <a:cs typeface="Calibri (MS)"/>
                <a:sym typeface="Calibri (MS)"/>
              </a:rPr>
              <a:t>Tanım: Tedarikçi Risk Endeksi'nin RI değeri ile Hava Durumu Şiddeti Severity puanının çarpımından elde edilen yeni bir değişkendir.</a:t>
            </a:r>
          </a:p>
          <a:p>
            <a:pPr algn="just" marL="777240" indent="-388620" lvl="1">
              <a:lnSpc>
                <a:spcPts val="5040"/>
              </a:lnSpc>
              <a:buFont typeface="Arial"/>
              <a:buChar char="•"/>
            </a:pPr>
            <a:r>
              <a:rPr lang="en-US" sz="3600">
                <a:solidFill>
                  <a:srgbClr val="000000"/>
                </a:solidFill>
                <a:latin typeface="Calibri (MS)"/>
                <a:ea typeface="Calibri (MS)"/>
                <a:cs typeface="Calibri (MS)"/>
                <a:sym typeface="Calibri (MS)"/>
              </a:rPr>
              <a:t>Mantığı: SCM'de riskler nadiren tek bir kaynaktan gelir. Hipotez, kötü hava koşulları ile güvenilmez bir tedarikçi riskinin aynı anda gerçekleşmesi durumunda, toplam riskin toplamsal değil, katlanarak çarpımsal artmasıdır. Bu öznitelik, bu katlanmış non-lineer etkiyi modellemeye çalışmıştır.</a:t>
            </a:r>
          </a:p>
        </p:txBody>
      </p:sp>
      <p:sp>
        <p:nvSpPr>
          <p:cNvPr name="TextBox 16" id="16"/>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1572622" y="958294"/>
            <a:ext cx="15142756" cy="2949574"/>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YARATILAN SENTETİK ÖZNİTELİKLERİN TANIMI</a:t>
            </a:r>
          </a:p>
        </p:txBody>
      </p:sp>
      <p:sp>
        <p:nvSpPr>
          <p:cNvPr name="TextBox 15" id="15"/>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
        <p:nvSpPr>
          <p:cNvPr name="TextBox 16" id="16"/>
          <p:cNvSpPr txBox="true"/>
          <p:nvPr/>
        </p:nvSpPr>
        <p:spPr>
          <a:xfrm rot="0">
            <a:off x="1205179" y="4442888"/>
            <a:ext cx="15877642" cy="4528186"/>
          </a:xfrm>
          <a:prstGeom prst="rect">
            <a:avLst/>
          </a:prstGeom>
        </p:spPr>
        <p:txBody>
          <a:bodyPr anchor="t" rtlCol="false" tIns="0" lIns="0" bIns="0" rIns="0">
            <a:spAutoFit/>
          </a:bodyPr>
          <a:lstStyle/>
          <a:p>
            <a:pPr algn="just">
              <a:lnSpc>
                <a:spcPts val="5039"/>
              </a:lnSpc>
            </a:pPr>
            <a:r>
              <a:rPr lang="en-US" sz="3599">
                <a:solidFill>
                  <a:srgbClr val="000000"/>
                </a:solidFill>
                <a:latin typeface="Calibri (MS)"/>
                <a:ea typeface="Calibri (MS)"/>
                <a:cs typeface="Calibri (MS)"/>
                <a:sym typeface="Calibri (MS)"/>
              </a:rPr>
              <a:t>2. Pseudo_SCM_Index (Sözde SCM Endeksi) Tanımı</a:t>
            </a:r>
          </a:p>
          <a:p>
            <a:pPr algn="just" marL="777234" indent="-388617" lvl="1">
              <a:lnSpc>
                <a:spcPts val="5039"/>
              </a:lnSpc>
              <a:buFont typeface="Arial"/>
              <a:buChar char="•"/>
            </a:pPr>
            <a:r>
              <a:rPr lang="en-US" sz="3599">
                <a:solidFill>
                  <a:srgbClr val="000000"/>
                </a:solidFill>
                <a:latin typeface="Calibri (MS)"/>
                <a:ea typeface="Calibri (MS)"/>
                <a:cs typeface="Calibri (MS)"/>
                <a:sym typeface="Calibri (MS)"/>
              </a:rPr>
              <a:t>Amaç: En Önemli 3 Eyleme Dönük Faktörü Basitçe Birleştirmek.</a:t>
            </a:r>
          </a:p>
          <a:p>
            <a:pPr algn="just" marL="777234" indent="-388617" lvl="1">
              <a:lnSpc>
                <a:spcPts val="5039"/>
              </a:lnSpc>
              <a:buFont typeface="Arial"/>
              <a:buChar char="•"/>
            </a:pPr>
            <a:r>
              <a:rPr lang="en-US" sz="3599">
                <a:solidFill>
                  <a:srgbClr val="000000"/>
                </a:solidFill>
                <a:latin typeface="Calibri (MS)"/>
                <a:ea typeface="Calibri (MS)"/>
                <a:cs typeface="Calibri (MS)"/>
                <a:sym typeface="Calibri (MS)"/>
              </a:rPr>
              <a:t>Tanım: Tedarikçi Riski, Trafik Yoğunluğu Seviyesi ve Liman Sıkışıklığı Seviyelerinin toplamından oluşturulmuş yapay bir toplam risk endeksidir.</a:t>
            </a:r>
          </a:p>
          <a:p>
            <a:pPr algn="just" marL="777234" indent="-388617" lvl="1">
              <a:lnSpc>
                <a:spcPts val="5039"/>
              </a:lnSpc>
              <a:buFont typeface="Arial"/>
              <a:buChar char="•"/>
            </a:pPr>
            <a:r>
              <a:rPr lang="en-US" sz="3599">
                <a:solidFill>
                  <a:srgbClr val="000000"/>
                </a:solidFill>
                <a:latin typeface="Calibri (MS)"/>
                <a:ea typeface="Calibri (MS)"/>
                <a:cs typeface="Calibri (MS)"/>
                <a:sym typeface="Calibri (MS)"/>
              </a:rPr>
              <a:t>Mantığı: DF2_disruption_likelihood_score'un bu üç temel operasyonel faktörün ağırlıklı bir toplamı olabileceği varsayılmıştır. Bu öznitelik, Kara Kutu skoru yerine, eyleme dönük kendi sade risk skor formülümüzü yaratma girişimiydi.</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2116544" y="1184395"/>
            <a:ext cx="15142756" cy="1513839"/>
          </a:xfrm>
          <a:prstGeom prst="rect">
            <a:avLst/>
          </a:prstGeom>
        </p:spPr>
        <p:txBody>
          <a:bodyPr anchor="t" rtlCol="false" tIns="0" lIns="0" bIns="0" rIns="0">
            <a:spAutoFit/>
          </a:bodyPr>
          <a:lstStyle/>
          <a:p>
            <a:pPr algn="ctr">
              <a:lnSpc>
                <a:spcPts val="11060"/>
              </a:lnSpc>
            </a:pPr>
            <a:r>
              <a:rPr lang="en-US" sz="7900">
                <a:solidFill>
                  <a:srgbClr val="004AAD"/>
                </a:solidFill>
                <a:latin typeface="Calibri (MS)"/>
                <a:ea typeface="Calibri (MS)"/>
                <a:cs typeface="Calibri (MS)"/>
                <a:sym typeface="Calibri (MS)"/>
              </a:rPr>
              <a:t>IV. AŞIRI KARMAŞIK MODELLEME </a:t>
            </a:r>
          </a:p>
        </p:txBody>
      </p:sp>
      <p:sp>
        <p:nvSpPr>
          <p:cNvPr name="TextBox 15" id="15"/>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
        <p:nvSpPr>
          <p:cNvPr name="TextBox 16" id="16"/>
          <p:cNvSpPr txBox="true"/>
          <p:nvPr/>
        </p:nvSpPr>
        <p:spPr>
          <a:xfrm rot="0">
            <a:off x="1205179" y="3979544"/>
            <a:ext cx="15877642" cy="5278756"/>
          </a:xfrm>
          <a:prstGeom prst="rect">
            <a:avLst/>
          </a:prstGeom>
        </p:spPr>
        <p:txBody>
          <a:bodyPr anchor="t" rtlCol="false" tIns="0" lIns="0" bIns="0" rIns="0">
            <a:spAutoFit/>
          </a:bodyPr>
          <a:lstStyle/>
          <a:p>
            <a:pPr algn="just" marL="712465" indent="-356233" lvl="1">
              <a:lnSpc>
                <a:spcPts val="4619"/>
              </a:lnSpc>
              <a:buFont typeface="Arial"/>
              <a:buChar char="•"/>
            </a:pPr>
            <a:r>
              <a:rPr lang="en-US" sz="3299">
                <a:solidFill>
                  <a:srgbClr val="000000"/>
                </a:solidFill>
                <a:latin typeface="Calibri (MS)"/>
                <a:ea typeface="Calibri (MS)"/>
                <a:cs typeface="Calibri (MS)"/>
                <a:sym typeface="Calibri (MS)"/>
              </a:rPr>
              <a:t>Basit yöntemlerin ardından, DF2_disruption_likelihood_score’un karmaşık non-lineer bir mimariyle türetildiği varsayımıyla Yapay Sinir Ağı (MLP Regresyonu) uygulanmıştır.</a:t>
            </a:r>
          </a:p>
          <a:p>
            <a:pPr algn="just" marL="712465" indent="-356233" lvl="1">
              <a:lnSpc>
                <a:spcPts val="4619"/>
              </a:lnSpc>
              <a:buFont typeface="Arial"/>
              <a:buChar char="•"/>
            </a:pPr>
            <a:r>
              <a:rPr lang="en-US" sz="3299">
                <a:solidFill>
                  <a:srgbClr val="000000"/>
                </a:solidFill>
                <a:latin typeface="Calibri (MS)"/>
                <a:ea typeface="Calibri (MS)"/>
                <a:cs typeface="Calibri (MS)"/>
                <a:sym typeface="Calibri (MS)"/>
              </a:rPr>
              <a:t>Sonuçlar, R² ≈ -0.5644 ile modelin başarısız olduğunu göstermiştir. Bu bulgu, söz konusu skorun tescilli kuralların ötesinde bir Kara Kutu Metriği olduğunu kesin olarak kanıtlamaktadır.</a:t>
            </a:r>
          </a:p>
          <a:p>
            <a:pPr algn="just" marL="712465" indent="-356233" lvl="1">
              <a:lnSpc>
                <a:spcPts val="4619"/>
              </a:lnSpc>
              <a:buFont typeface="Arial"/>
              <a:buChar char="•"/>
            </a:pPr>
            <a:r>
              <a:rPr lang="en-US" sz="3299">
                <a:solidFill>
                  <a:srgbClr val="000000"/>
                </a:solidFill>
                <a:latin typeface="Calibri (MS)"/>
                <a:ea typeface="Calibri (MS)"/>
                <a:cs typeface="Calibri (MS)"/>
                <a:sym typeface="Calibri (MS)"/>
              </a:rPr>
              <a:t>Önem: Skorun arkasındaki mantık, ne lineer ne de non-lineer geleneksel modellerle yeniden üretilememekte; bu da onu operasyonel analizlerde ayrıcalıklı ve “kullanıma hazır” bir ölçüm hâline getirmektedir.</a:t>
            </a:r>
          </a:p>
          <a:p>
            <a:pPr algn="just">
              <a:lnSpc>
                <a:spcPts val="4619"/>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1225797" y="419799"/>
            <a:ext cx="15836406" cy="9447401"/>
          </a:xfrm>
          <a:custGeom>
            <a:avLst/>
            <a:gdLst/>
            <a:ahLst/>
            <a:cxnLst/>
            <a:rect r="r" b="b" t="t" l="l"/>
            <a:pathLst>
              <a:path h="9447401" w="15836406">
                <a:moveTo>
                  <a:pt x="0" y="0"/>
                </a:moveTo>
                <a:lnTo>
                  <a:pt x="15836406" y="0"/>
                </a:lnTo>
                <a:lnTo>
                  <a:pt x="15836406" y="9447402"/>
                </a:lnTo>
                <a:lnTo>
                  <a:pt x="0" y="9447402"/>
                </a:lnTo>
                <a:lnTo>
                  <a:pt x="0" y="0"/>
                </a:lnTo>
                <a:close/>
              </a:path>
            </a:pathLst>
          </a:custGeom>
          <a:blipFill>
            <a:blip r:embed="rId4"/>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1835795" y="619814"/>
            <a:ext cx="14616410" cy="9047373"/>
          </a:xfrm>
          <a:custGeom>
            <a:avLst/>
            <a:gdLst/>
            <a:ahLst/>
            <a:cxnLst/>
            <a:rect r="r" b="b" t="t" l="l"/>
            <a:pathLst>
              <a:path h="9047373" w="14616410">
                <a:moveTo>
                  <a:pt x="0" y="0"/>
                </a:moveTo>
                <a:lnTo>
                  <a:pt x="14616410" y="0"/>
                </a:lnTo>
                <a:lnTo>
                  <a:pt x="14616410" y="9047372"/>
                </a:lnTo>
                <a:lnTo>
                  <a:pt x="0" y="9047372"/>
                </a:lnTo>
                <a:lnTo>
                  <a:pt x="0" y="0"/>
                </a:lnTo>
                <a:close/>
              </a:path>
            </a:pathLst>
          </a:custGeom>
          <a:blipFill>
            <a:blip r:embed="rId4"/>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1139631" y="368396"/>
            <a:ext cx="16008738" cy="9550208"/>
          </a:xfrm>
          <a:custGeom>
            <a:avLst/>
            <a:gdLst/>
            <a:ahLst/>
            <a:cxnLst/>
            <a:rect r="r" b="b" t="t" l="l"/>
            <a:pathLst>
              <a:path h="9550208" w="16008738">
                <a:moveTo>
                  <a:pt x="0" y="0"/>
                </a:moveTo>
                <a:lnTo>
                  <a:pt x="16008738" y="0"/>
                </a:lnTo>
                <a:lnTo>
                  <a:pt x="16008738" y="9550208"/>
                </a:lnTo>
                <a:lnTo>
                  <a:pt x="0" y="9550208"/>
                </a:lnTo>
                <a:lnTo>
                  <a:pt x="0" y="0"/>
                </a:lnTo>
                <a:close/>
              </a:path>
            </a:pathLst>
          </a:custGeom>
          <a:blipFill>
            <a:blip r:embed="rId4"/>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2116544" y="958294"/>
            <a:ext cx="15142756" cy="2914014"/>
          </a:xfrm>
          <a:prstGeom prst="rect">
            <a:avLst/>
          </a:prstGeom>
        </p:spPr>
        <p:txBody>
          <a:bodyPr anchor="t" rtlCol="false" tIns="0" lIns="0" bIns="0" rIns="0">
            <a:spAutoFit/>
          </a:bodyPr>
          <a:lstStyle/>
          <a:p>
            <a:pPr algn="ctr">
              <a:lnSpc>
                <a:spcPts val="11060"/>
              </a:lnSpc>
            </a:pPr>
            <a:r>
              <a:rPr lang="en-US" sz="7900">
                <a:solidFill>
                  <a:srgbClr val="004AAD"/>
                </a:solidFill>
                <a:latin typeface="Calibri (MS)"/>
                <a:ea typeface="Calibri (MS)"/>
                <a:cs typeface="Calibri (MS)"/>
                <a:sym typeface="Calibri (MS)"/>
              </a:rPr>
              <a:t>V. FINAL ÇÖZÜMÜ: GERÇEK PERFORMANS DEĞERLENDIRMESI</a:t>
            </a:r>
          </a:p>
        </p:txBody>
      </p:sp>
      <p:sp>
        <p:nvSpPr>
          <p:cNvPr name="TextBox 15" id="15"/>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
        <p:nvSpPr>
          <p:cNvPr name="TextBox 16" id="16"/>
          <p:cNvSpPr txBox="true"/>
          <p:nvPr/>
        </p:nvSpPr>
        <p:spPr>
          <a:xfrm rot="0">
            <a:off x="1205179" y="4381612"/>
            <a:ext cx="15877642" cy="4649470"/>
          </a:xfrm>
          <a:prstGeom prst="rect">
            <a:avLst/>
          </a:prstGeom>
        </p:spPr>
        <p:txBody>
          <a:bodyPr anchor="t" rtlCol="false" tIns="0" lIns="0" bIns="0" rIns="0">
            <a:spAutoFit/>
          </a:bodyPr>
          <a:lstStyle/>
          <a:p>
            <a:pPr algn="just" marL="798829" indent="-399415" lvl="1">
              <a:lnSpc>
                <a:spcPts val="5179"/>
              </a:lnSpc>
              <a:buFont typeface="Arial"/>
              <a:buChar char="•"/>
            </a:pPr>
            <a:r>
              <a:rPr lang="en-US" sz="3699">
                <a:solidFill>
                  <a:srgbClr val="000000"/>
                </a:solidFill>
                <a:latin typeface="Calibri (MS)"/>
                <a:ea typeface="Calibri (MS)"/>
                <a:cs typeface="Calibri (MS)"/>
                <a:sym typeface="Calibri (MS)"/>
              </a:rPr>
              <a:t>Girdi Çıkarımı: DF2_disruption_likelihood_score tamamen kaldırıldı.</a:t>
            </a:r>
          </a:p>
          <a:p>
            <a:pPr algn="just" marL="798829" indent="-399415" lvl="1">
              <a:lnSpc>
                <a:spcPts val="5179"/>
              </a:lnSpc>
              <a:buFont typeface="Arial"/>
              <a:buChar char="•"/>
            </a:pPr>
            <a:r>
              <a:rPr lang="en-US" sz="3699">
                <a:solidFill>
                  <a:srgbClr val="000000"/>
                </a:solidFill>
                <a:latin typeface="Calibri (MS)"/>
                <a:ea typeface="Calibri (MS)"/>
                <a:cs typeface="Calibri (MS)"/>
                <a:sym typeface="Calibri (MS)"/>
              </a:rPr>
              <a:t>Performans: XGBoost F1-Skoru 0.6393 seviyesine düştü; önceki 1.00’lik yapay performans ortadan kalktı.</a:t>
            </a:r>
          </a:p>
          <a:p>
            <a:pPr algn="just" marL="798829" indent="-399415" lvl="1">
              <a:lnSpc>
                <a:spcPts val="5179"/>
              </a:lnSpc>
              <a:buFont typeface="Arial"/>
              <a:buChar char="•"/>
            </a:pPr>
            <a:r>
              <a:rPr lang="en-US" sz="3699">
                <a:solidFill>
                  <a:srgbClr val="000000"/>
                </a:solidFill>
                <a:latin typeface="Calibri (MS)"/>
                <a:ea typeface="Calibri (MS)"/>
                <a:cs typeface="Calibri (MS)"/>
                <a:sym typeface="Calibri (MS)"/>
              </a:rPr>
              <a:t>Yoru</a:t>
            </a:r>
            <a:r>
              <a:rPr lang="en-US" sz="3699">
                <a:solidFill>
                  <a:srgbClr val="000000"/>
                </a:solidFill>
                <a:latin typeface="Calibri (MS)"/>
                <a:ea typeface="Calibri (MS)"/>
                <a:cs typeface="Calibri (MS)"/>
                <a:sym typeface="Calibri (MS)"/>
              </a:rPr>
              <a:t>m: Bu düşüş, modelin artık bağımsız çevresel ve operasyonel faktörlere dayalı tahmin yaptığını gösteriyor.</a:t>
            </a:r>
          </a:p>
          <a:p>
            <a:pPr algn="just" marL="798829" indent="-399415" lvl="1">
              <a:lnSpc>
                <a:spcPts val="5179"/>
              </a:lnSpc>
              <a:buFont typeface="Arial"/>
              <a:buChar char="•"/>
            </a:pPr>
            <a:r>
              <a:rPr lang="en-US" sz="3699">
                <a:solidFill>
                  <a:srgbClr val="000000"/>
                </a:solidFill>
                <a:latin typeface="Calibri (MS)"/>
                <a:ea typeface="Calibri (MS)"/>
                <a:cs typeface="Calibri (MS)"/>
                <a:sym typeface="Calibri (MS)"/>
              </a:rPr>
              <a:t>Önem: </a:t>
            </a:r>
            <a:r>
              <a:rPr lang="en-US" sz="3699">
                <a:solidFill>
                  <a:srgbClr val="000000"/>
                </a:solidFill>
                <a:latin typeface="Calibri (MS)"/>
                <a:ea typeface="Calibri (MS)"/>
                <a:cs typeface="Calibri (MS)"/>
                <a:sym typeface="Calibri (MS)"/>
              </a:rPr>
              <a:t>0.6393 değeri, modelin gerçek dünyadaki tahmin kapasitesini ve güvenilirliğini yansıtıyor; yani artık “yapay duvar” etkisi yok.</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2075301" y="452237"/>
            <a:ext cx="14137398" cy="9382525"/>
          </a:xfrm>
          <a:custGeom>
            <a:avLst/>
            <a:gdLst/>
            <a:ahLst/>
            <a:cxnLst/>
            <a:rect r="r" b="b" t="t" l="l"/>
            <a:pathLst>
              <a:path h="9382525" w="14137398">
                <a:moveTo>
                  <a:pt x="0" y="0"/>
                </a:moveTo>
                <a:lnTo>
                  <a:pt x="14137398" y="0"/>
                </a:lnTo>
                <a:lnTo>
                  <a:pt x="14137398" y="9382526"/>
                </a:lnTo>
                <a:lnTo>
                  <a:pt x="0" y="9382526"/>
                </a:lnTo>
                <a:lnTo>
                  <a:pt x="0" y="0"/>
                </a:lnTo>
                <a:close/>
              </a:path>
            </a:pathLst>
          </a:custGeom>
          <a:blipFill>
            <a:blip r:embed="rId4"/>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611540" y="422525"/>
            <a:ext cx="17064920" cy="9441951"/>
          </a:xfrm>
          <a:custGeom>
            <a:avLst/>
            <a:gdLst/>
            <a:ahLst/>
            <a:cxnLst/>
            <a:rect r="r" b="b" t="t" l="l"/>
            <a:pathLst>
              <a:path h="9441951" w="17064920">
                <a:moveTo>
                  <a:pt x="0" y="0"/>
                </a:moveTo>
                <a:lnTo>
                  <a:pt x="17064920" y="0"/>
                </a:lnTo>
                <a:lnTo>
                  <a:pt x="17064920" y="9441950"/>
                </a:lnTo>
                <a:lnTo>
                  <a:pt x="0" y="9441950"/>
                </a:lnTo>
                <a:lnTo>
                  <a:pt x="0" y="0"/>
                </a:lnTo>
                <a:close/>
              </a:path>
            </a:pathLst>
          </a:custGeom>
          <a:blipFill>
            <a:blip r:embed="rId4"/>
            <a:stretch>
              <a:fillRect l="0" t="0" r="0" b="0"/>
            </a:stretch>
          </a:blipFill>
        </p:spPr>
      </p:sp>
      <p:sp>
        <p:nvSpPr>
          <p:cNvPr name="TextBox 12" id="12"/>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4325410" y="244290"/>
            <a:ext cx="9637180" cy="9798420"/>
          </a:xfrm>
          <a:custGeom>
            <a:avLst/>
            <a:gdLst/>
            <a:ahLst/>
            <a:cxnLst/>
            <a:rect r="r" b="b" t="t" l="l"/>
            <a:pathLst>
              <a:path h="9798420" w="9637180">
                <a:moveTo>
                  <a:pt x="0" y="0"/>
                </a:moveTo>
                <a:lnTo>
                  <a:pt x="9637180" y="0"/>
                </a:lnTo>
                <a:lnTo>
                  <a:pt x="9637180" y="9798420"/>
                </a:lnTo>
                <a:lnTo>
                  <a:pt x="0" y="9798420"/>
                </a:lnTo>
                <a:lnTo>
                  <a:pt x="0" y="0"/>
                </a:lnTo>
                <a:close/>
              </a:path>
            </a:pathLst>
          </a:custGeom>
          <a:blipFill>
            <a:blip r:embed="rId4"/>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1724017" y="717018"/>
            <a:ext cx="14839967" cy="8852963"/>
          </a:xfrm>
          <a:custGeom>
            <a:avLst/>
            <a:gdLst/>
            <a:ahLst/>
            <a:cxnLst/>
            <a:rect r="r" b="b" t="t" l="l"/>
            <a:pathLst>
              <a:path h="8852963" w="14839967">
                <a:moveTo>
                  <a:pt x="0" y="0"/>
                </a:moveTo>
                <a:lnTo>
                  <a:pt x="14839966" y="0"/>
                </a:lnTo>
                <a:lnTo>
                  <a:pt x="14839966" y="8852964"/>
                </a:lnTo>
                <a:lnTo>
                  <a:pt x="0" y="8852964"/>
                </a:lnTo>
                <a:lnTo>
                  <a:pt x="0" y="0"/>
                </a:lnTo>
                <a:close/>
              </a:path>
            </a:pathLst>
          </a:custGeom>
          <a:blipFill>
            <a:blip r:embed="rId4"/>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2069929" y="341975"/>
            <a:ext cx="14148141" cy="9603051"/>
          </a:xfrm>
          <a:custGeom>
            <a:avLst/>
            <a:gdLst/>
            <a:ahLst/>
            <a:cxnLst/>
            <a:rect r="r" b="b" t="t" l="l"/>
            <a:pathLst>
              <a:path h="9603051" w="14148141">
                <a:moveTo>
                  <a:pt x="0" y="0"/>
                </a:moveTo>
                <a:lnTo>
                  <a:pt x="14148142" y="0"/>
                </a:lnTo>
                <a:lnTo>
                  <a:pt x="14148142" y="9603050"/>
                </a:lnTo>
                <a:lnTo>
                  <a:pt x="0" y="9603050"/>
                </a:lnTo>
                <a:lnTo>
                  <a:pt x="0" y="0"/>
                </a:lnTo>
                <a:close/>
              </a:path>
            </a:pathLst>
          </a:custGeom>
          <a:blipFill>
            <a:blip r:embed="rId4"/>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2064487" y="522058"/>
            <a:ext cx="14159027" cy="9242884"/>
          </a:xfrm>
          <a:custGeom>
            <a:avLst/>
            <a:gdLst/>
            <a:ahLst/>
            <a:cxnLst/>
            <a:rect r="r" b="b" t="t" l="l"/>
            <a:pathLst>
              <a:path h="9242884" w="14159027">
                <a:moveTo>
                  <a:pt x="0" y="0"/>
                </a:moveTo>
                <a:lnTo>
                  <a:pt x="14159026" y="0"/>
                </a:lnTo>
                <a:lnTo>
                  <a:pt x="14159026" y="9242884"/>
                </a:lnTo>
                <a:lnTo>
                  <a:pt x="0" y="9242884"/>
                </a:lnTo>
                <a:lnTo>
                  <a:pt x="0" y="0"/>
                </a:lnTo>
                <a:close/>
              </a:path>
            </a:pathLst>
          </a:custGeom>
          <a:blipFill>
            <a:blip r:embed="rId4"/>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1572622" y="958294"/>
            <a:ext cx="15142756" cy="1513839"/>
          </a:xfrm>
          <a:prstGeom prst="rect">
            <a:avLst/>
          </a:prstGeom>
        </p:spPr>
        <p:txBody>
          <a:bodyPr anchor="t" rtlCol="false" tIns="0" lIns="0" bIns="0" rIns="0">
            <a:spAutoFit/>
          </a:bodyPr>
          <a:lstStyle/>
          <a:p>
            <a:pPr algn="ctr">
              <a:lnSpc>
                <a:spcPts val="11060"/>
              </a:lnSpc>
            </a:pPr>
            <a:r>
              <a:rPr lang="en-US" sz="7900">
                <a:solidFill>
                  <a:srgbClr val="004AAD"/>
                </a:solidFill>
                <a:latin typeface="Calibri (MS)"/>
                <a:ea typeface="Calibri (MS)"/>
                <a:cs typeface="Calibri (MS)"/>
                <a:sym typeface="Calibri (MS)"/>
              </a:rPr>
              <a:t>VI. YENI ÖZNITELIK EKLEME</a:t>
            </a:r>
          </a:p>
        </p:txBody>
      </p:sp>
      <p:sp>
        <p:nvSpPr>
          <p:cNvPr name="TextBox 15" id="15"/>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
        <p:nvSpPr>
          <p:cNvPr name="TextBox 16" id="16"/>
          <p:cNvSpPr txBox="true"/>
          <p:nvPr/>
        </p:nvSpPr>
        <p:spPr>
          <a:xfrm rot="0">
            <a:off x="1931934" y="3136764"/>
            <a:ext cx="14424131" cy="6245225"/>
          </a:xfrm>
          <a:prstGeom prst="rect">
            <a:avLst/>
          </a:prstGeom>
        </p:spPr>
        <p:txBody>
          <a:bodyPr anchor="t" rtlCol="false" tIns="0" lIns="0" bIns="0" rIns="0">
            <a:spAutoFit/>
          </a:bodyPr>
          <a:lstStyle/>
          <a:p>
            <a:pPr algn="just">
              <a:lnSpc>
                <a:spcPts val="4900"/>
              </a:lnSpc>
            </a:pPr>
            <a:r>
              <a:rPr lang="en-US" sz="3500">
                <a:solidFill>
                  <a:srgbClr val="000000"/>
                </a:solidFill>
                <a:latin typeface="Calibri (MS)"/>
                <a:ea typeface="Calibri (MS)"/>
                <a:cs typeface="Calibri (MS)"/>
                <a:sym typeface="Calibri (MS)"/>
              </a:rPr>
              <a:t>Modelin çözülmezliğini test etmek ve Low/Moderate Risk sınıflarını iyileştirmek </a:t>
            </a:r>
          </a:p>
          <a:p>
            <a:pPr algn="just">
              <a:lnSpc>
                <a:spcPts val="4900"/>
              </a:lnSpc>
            </a:pPr>
            <a:r>
              <a:rPr lang="en-US" sz="3500">
                <a:solidFill>
                  <a:srgbClr val="000000"/>
                </a:solidFill>
                <a:latin typeface="Calibri (MS)"/>
                <a:ea typeface="Calibri (MS)"/>
                <a:cs typeface="Calibri (MS)"/>
                <a:sym typeface="Calibri (MS)"/>
              </a:rPr>
              <a:t>için çeşitli sentetik sinyaller üretildi:</a:t>
            </a:r>
          </a:p>
          <a:p>
            <a:pPr algn="just">
              <a:lnSpc>
                <a:spcPts val="4900"/>
              </a:lnSpc>
            </a:pPr>
          </a:p>
          <a:p>
            <a:pPr algn="just" marL="755651" indent="-377825" lvl="1">
              <a:lnSpc>
                <a:spcPts val="4900"/>
              </a:lnSpc>
              <a:buFont typeface="Arial"/>
              <a:buChar char="•"/>
            </a:pPr>
            <a:r>
              <a:rPr lang="en-US" sz="3500">
                <a:solidFill>
                  <a:srgbClr val="000000"/>
                </a:solidFill>
                <a:latin typeface="Calibri (MS)"/>
                <a:ea typeface="Calibri (MS)"/>
                <a:cs typeface="Calibri (MS)"/>
                <a:sym typeface="Calibri (MS)"/>
              </a:rPr>
              <a:t>Interaction_RI_Weather = Tedarikçi Riski × Hava Şiddeti → Etkisiz</a:t>
            </a:r>
          </a:p>
          <a:p>
            <a:pPr algn="just" marL="755651" indent="-377825" lvl="1">
              <a:lnSpc>
                <a:spcPts val="4900"/>
              </a:lnSpc>
              <a:buFont typeface="Arial"/>
              <a:buChar char="•"/>
            </a:pPr>
            <a:r>
              <a:rPr lang="en-US" sz="3500">
                <a:solidFill>
                  <a:srgbClr val="000000"/>
                </a:solidFill>
                <a:latin typeface="Calibri (MS)"/>
                <a:ea typeface="Calibri (MS)"/>
                <a:cs typeface="Calibri (MS)"/>
                <a:sym typeface="Calibri (MS)"/>
              </a:rPr>
              <a:t>Pseudo_SCM_Index = Tedarikçi + Trafik + Liman → Modeli güçlendirmedi</a:t>
            </a:r>
          </a:p>
          <a:p>
            <a:pPr algn="just" marL="755651" indent="-377825" lvl="1">
              <a:lnSpc>
                <a:spcPts val="4900"/>
              </a:lnSpc>
              <a:buFont typeface="Arial"/>
              <a:buChar char="•"/>
            </a:pPr>
            <a:r>
              <a:rPr lang="en-US" sz="3500">
                <a:solidFill>
                  <a:srgbClr val="000000"/>
                </a:solidFill>
                <a:latin typeface="Calibri (MS)"/>
                <a:ea typeface="Calibri (MS)"/>
                <a:cs typeface="Calibri (MS)"/>
                <a:sym typeface="Calibri (MS)"/>
              </a:rPr>
              <a:t>DF1_OP_Risk_Index = Hava + Trafik</a:t>
            </a:r>
          </a:p>
          <a:p>
            <a:pPr algn="just" marL="755651" indent="-377825" lvl="1">
              <a:lnSpc>
                <a:spcPts val="4900"/>
              </a:lnSpc>
              <a:buFont typeface="Arial"/>
              <a:buChar char="•"/>
            </a:pPr>
            <a:r>
              <a:rPr lang="en-US" sz="3500">
                <a:solidFill>
                  <a:srgbClr val="000000"/>
                </a:solidFill>
                <a:latin typeface="Calibri (MS)"/>
                <a:ea typeface="Calibri (MS)"/>
                <a:cs typeface="Calibri (MS)"/>
                <a:sym typeface="Calibri (MS)"/>
              </a:rPr>
              <a:t>SCM_FIN_Index = Finansal Risk Toplamı → Gizli sinyal bulunamadı</a:t>
            </a:r>
          </a:p>
          <a:p>
            <a:pPr algn="just">
              <a:lnSpc>
                <a:spcPts val="4900"/>
              </a:lnSpc>
            </a:pPr>
          </a:p>
          <a:p>
            <a:pPr algn="just">
              <a:lnSpc>
                <a:spcPts val="4900"/>
              </a:lnSpc>
            </a:pPr>
            <a:r>
              <a:rPr lang="en-US" sz="3500">
                <a:solidFill>
                  <a:srgbClr val="000000"/>
                </a:solidFill>
                <a:latin typeface="Calibri (MS)"/>
                <a:ea typeface="Calibri (MS)"/>
                <a:cs typeface="Calibri (MS)"/>
                <a:sym typeface="Calibri (MS)"/>
              </a:rPr>
              <a:t>Sonuç: Hiçbiri modeli geliştirmedi. 0.6393 F1-Skoru, veri setinin aşılmaz </a:t>
            </a:r>
          </a:p>
          <a:p>
            <a:pPr algn="just">
              <a:lnSpc>
                <a:spcPts val="4900"/>
              </a:lnSpc>
            </a:pPr>
            <a:r>
              <a:rPr lang="en-US" sz="3500">
                <a:solidFill>
                  <a:srgbClr val="000000"/>
                </a:solidFill>
                <a:latin typeface="Calibri (MS)"/>
                <a:ea typeface="Calibri (MS)"/>
                <a:cs typeface="Calibri (MS)"/>
                <a:sym typeface="Calibri (MS)"/>
              </a:rPr>
              <a:t>performans sınırını göstermektedir.</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1671362" y="685607"/>
            <a:ext cx="14945276" cy="8915787"/>
          </a:xfrm>
          <a:custGeom>
            <a:avLst/>
            <a:gdLst/>
            <a:ahLst/>
            <a:cxnLst/>
            <a:rect r="r" b="b" t="t" l="l"/>
            <a:pathLst>
              <a:path h="8915787" w="14945276">
                <a:moveTo>
                  <a:pt x="0" y="0"/>
                </a:moveTo>
                <a:lnTo>
                  <a:pt x="14945276" y="0"/>
                </a:lnTo>
                <a:lnTo>
                  <a:pt x="14945276" y="8915786"/>
                </a:lnTo>
                <a:lnTo>
                  <a:pt x="0" y="8915786"/>
                </a:lnTo>
                <a:lnTo>
                  <a:pt x="0" y="0"/>
                </a:lnTo>
                <a:close/>
              </a:path>
            </a:pathLst>
          </a:custGeom>
          <a:blipFill>
            <a:blip r:embed="rId4"/>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3273691" y="1437240"/>
            <a:ext cx="12887278"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PERFORMANS VE METODOLOJI</a:t>
            </a:r>
          </a:p>
        </p:txBody>
      </p:sp>
      <p:sp>
        <p:nvSpPr>
          <p:cNvPr name="TextBox 15" id="15"/>
          <p:cNvSpPr txBox="true"/>
          <p:nvPr/>
        </p:nvSpPr>
        <p:spPr>
          <a:xfrm rot="0">
            <a:off x="1205179" y="3316858"/>
            <a:ext cx="15877642" cy="6233795"/>
          </a:xfrm>
          <a:prstGeom prst="rect">
            <a:avLst/>
          </a:prstGeom>
        </p:spPr>
        <p:txBody>
          <a:bodyPr anchor="t" rtlCol="false" tIns="0" lIns="0" bIns="0" rIns="0">
            <a:spAutoFit/>
          </a:bodyPr>
          <a:lstStyle/>
          <a:p>
            <a:pPr algn="just" marL="690879" indent="-345439" lvl="1">
              <a:lnSpc>
                <a:spcPts val="4479"/>
              </a:lnSpc>
              <a:buFont typeface="Arial"/>
              <a:buChar char="•"/>
            </a:pPr>
            <a:r>
              <a:rPr lang="en-US" sz="3199">
                <a:solidFill>
                  <a:srgbClr val="000000"/>
                </a:solidFill>
                <a:latin typeface="Calibri (MS)"/>
                <a:ea typeface="Calibri (MS)"/>
                <a:cs typeface="Calibri (MS)"/>
                <a:sym typeface="Calibri (MS)"/>
              </a:rPr>
              <a:t>Yapay Başarı: F1 Skoru 1.00 – DF2 değişkeni modelin yüzde 97’sini açıklayarak yapay bir mükemmellik oluşturdu.</a:t>
            </a:r>
          </a:p>
          <a:p>
            <a:pPr algn="just">
              <a:lnSpc>
                <a:spcPts val="4479"/>
              </a:lnSpc>
            </a:pPr>
          </a:p>
          <a:p>
            <a:pPr algn="just" marL="690879" indent="-345439" lvl="1">
              <a:lnSpc>
                <a:spcPts val="4479"/>
              </a:lnSpc>
              <a:buFont typeface="Arial"/>
              <a:buChar char="•"/>
            </a:pPr>
            <a:r>
              <a:rPr lang="en-US" sz="3199">
                <a:solidFill>
                  <a:srgbClr val="000000"/>
                </a:solidFill>
                <a:latin typeface="Calibri (MS)"/>
                <a:ea typeface="Calibri (MS)"/>
                <a:cs typeface="Calibri (MS)"/>
                <a:sym typeface="Calibri (MS)"/>
              </a:rPr>
              <a:t>Kara Kutu İspatı: R² -0.56 – MLP regresyonunun başarısızlığı, DF2’nin mevcut özniteliklerle açıklanamayacak bir kara kutu metriği olduğunu gösterdi.</a:t>
            </a:r>
          </a:p>
          <a:p>
            <a:pPr algn="just">
              <a:lnSpc>
                <a:spcPts val="4479"/>
              </a:lnSpc>
            </a:pPr>
          </a:p>
          <a:p>
            <a:pPr algn="just" marL="690879" indent="-345439" lvl="1">
              <a:lnSpc>
                <a:spcPts val="4479"/>
              </a:lnSpc>
              <a:buFont typeface="Arial"/>
              <a:buChar char="•"/>
            </a:pPr>
            <a:r>
              <a:rPr lang="en-US" sz="3199">
                <a:solidFill>
                  <a:srgbClr val="000000"/>
                </a:solidFill>
                <a:latin typeface="Calibri (MS)"/>
                <a:ea typeface="Calibri (MS)"/>
                <a:cs typeface="Calibri (MS)"/>
                <a:sym typeface="Calibri (MS)"/>
              </a:rPr>
              <a:t>Gerçek Performans: F1 Skoru 0.639 – DF2 çıkarıldığında modelin ulaşabildiği gerçek tahmin gücü belirlendi.</a:t>
            </a:r>
          </a:p>
          <a:p>
            <a:pPr algn="just">
              <a:lnSpc>
                <a:spcPts val="4479"/>
              </a:lnSpc>
            </a:pPr>
          </a:p>
          <a:p>
            <a:pPr algn="just" marL="690879" indent="-345439" lvl="1">
              <a:lnSpc>
                <a:spcPts val="4479"/>
              </a:lnSpc>
              <a:buFont typeface="Arial"/>
              <a:buChar char="•"/>
            </a:pPr>
            <a:r>
              <a:rPr lang="en-US" sz="3199">
                <a:solidFill>
                  <a:srgbClr val="000000"/>
                </a:solidFill>
                <a:latin typeface="Calibri (MS)"/>
                <a:ea typeface="Calibri (MS)"/>
                <a:cs typeface="Calibri (MS)"/>
                <a:sym typeface="Calibri (MS)"/>
              </a:rPr>
              <a:t>Sonuç: Modelin sınırı 0.639 düzeyindedir; bu değer operasyonel faktörlerle elde edilebilecek maksimum gerçek performansı temsil eder.</a:t>
            </a:r>
          </a:p>
        </p:txBody>
      </p:sp>
      <p:sp>
        <p:nvSpPr>
          <p:cNvPr name="TextBox 16" id="16"/>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611540" y="422525"/>
            <a:ext cx="17064920" cy="9441951"/>
          </a:xfrm>
          <a:custGeom>
            <a:avLst/>
            <a:gdLst/>
            <a:ahLst/>
            <a:cxnLst/>
            <a:rect r="r" b="b" t="t" l="l"/>
            <a:pathLst>
              <a:path h="9441951" w="17064920">
                <a:moveTo>
                  <a:pt x="0" y="0"/>
                </a:moveTo>
                <a:lnTo>
                  <a:pt x="17064920" y="0"/>
                </a:lnTo>
                <a:lnTo>
                  <a:pt x="17064920" y="9441950"/>
                </a:lnTo>
                <a:lnTo>
                  <a:pt x="0" y="9441950"/>
                </a:lnTo>
                <a:lnTo>
                  <a:pt x="0" y="0"/>
                </a:lnTo>
                <a:close/>
              </a:path>
            </a:pathLst>
          </a:custGeom>
          <a:blipFill>
            <a:blip r:embed="rId4"/>
            <a:stretch>
              <a:fillRect l="0" t="0" r="0" b="0"/>
            </a:stretch>
          </a:blipFill>
        </p:spPr>
      </p:sp>
      <p:sp>
        <p:nvSpPr>
          <p:cNvPr name="TextBox 12" id="12"/>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3273691" y="1566306"/>
            <a:ext cx="11740619"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KILIT BULGULAR</a:t>
            </a:r>
          </a:p>
        </p:txBody>
      </p:sp>
      <p:sp>
        <p:nvSpPr>
          <p:cNvPr name="TextBox 15" id="15"/>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
        <p:nvSpPr>
          <p:cNvPr name="TextBox 16" id="16"/>
          <p:cNvSpPr txBox="true"/>
          <p:nvPr/>
        </p:nvSpPr>
        <p:spPr>
          <a:xfrm rot="0">
            <a:off x="1205179" y="3586480"/>
            <a:ext cx="15877642" cy="5671820"/>
          </a:xfrm>
          <a:prstGeom prst="rect">
            <a:avLst/>
          </a:prstGeom>
        </p:spPr>
        <p:txBody>
          <a:bodyPr anchor="t" rtlCol="false" tIns="0" lIns="0" bIns="0" rIns="0">
            <a:spAutoFit/>
          </a:bodyPr>
          <a:lstStyle/>
          <a:p>
            <a:pPr algn="just" marL="690879" indent="-345439" lvl="1">
              <a:lnSpc>
                <a:spcPts val="4479"/>
              </a:lnSpc>
              <a:buFont typeface="Arial"/>
              <a:buChar char="•"/>
            </a:pPr>
            <a:r>
              <a:rPr lang="en-US" sz="3199">
                <a:solidFill>
                  <a:srgbClr val="000000"/>
                </a:solidFill>
                <a:latin typeface="Calibri (MS)"/>
                <a:ea typeface="Calibri (MS)"/>
                <a:cs typeface="Calibri (MS)"/>
                <a:sym typeface="Calibri (MS)"/>
              </a:rPr>
              <a:t>Skorsuz model (F1=0.6393) analizi, kargo riskini azaltmak için kritik operasyonel alanları açıkça ortaya koymuştur. En etkili dört faktör sırasıyla: hava durumu (14.85%), trafik yoğunluğu (11.74%), araç tipi (11.37%) ve bölge türü (8.07%) olup, toplamda model etkisinin yaklaşık %46’sını oluşturmuştur.</a:t>
            </a:r>
          </a:p>
          <a:p>
            <a:pPr algn="just">
              <a:lnSpc>
                <a:spcPts val="4479"/>
              </a:lnSpc>
            </a:pPr>
          </a:p>
          <a:p>
            <a:pPr algn="just" marL="690879" indent="-345439" lvl="1">
              <a:lnSpc>
                <a:spcPts val="4479"/>
              </a:lnSpc>
              <a:buFont typeface="Arial"/>
              <a:buChar char="•"/>
            </a:pPr>
            <a:r>
              <a:rPr lang="en-US" sz="3199">
                <a:solidFill>
                  <a:srgbClr val="000000"/>
                </a:solidFill>
                <a:latin typeface="Calibri (MS)"/>
                <a:ea typeface="Calibri (MS)"/>
                <a:cs typeface="Calibri (MS)"/>
                <a:sym typeface="Calibri (MS)"/>
              </a:rPr>
              <a:t>Yorum: Kara Kutu skorunun devre dışı kaldığı durumda, risk sınıflandırması doğrudan çevresel ve coğrafi koşullara dayanmaktadır. Bu da özellikle düşük ve orta riskli kargo bölgelerinde hava, trafik ve araç planlamasına odaklanmanın riski düşürmede en etkili strateji olduğunu göstermektedir.</a:t>
            </a:r>
          </a:p>
          <a:p>
            <a:pPr algn="just">
              <a:lnSpc>
                <a:spcPts val="4479"/>
              </a:lnSpc>
            </a:pP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3273691" y="1437240"/>
            <a:ext cx="11740619"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ÇIKARIMLAR</a:t>
            </a:r>
          </a:p>
        </p:txBody>
      </p:sp>
      <p:sp>
        <p:nvSpPr>
          <p:cNvPr name="TextBox 15" id="15"/>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
        <p:nvSpPr>
          <p:cNvPr name="TextBox 16" id="16"/>
          <p:cNvSpPr txBox="true"/>
          <p:nvPr/>
        </p:nvSpPr>
        <p:spPr>
          <a:xfrm rot="0">
            <a:off x="1028700" y="3632200"/>
            <a:ext cx="16230600" cy="5626100"/>
          </a:xfrm>
          <a:prstGeom prst="rect">
            <a:avLst/>
          </a:prstGeom>
        </p:spPr>
        <p:txBody>
          <a:bodyPr anchor="t" rtlCol="false" tIns="0" lIns="0" bIns="0" rIns="0">
            <a:spAutoFit/>
          </a:bodyPr>
          <a:lstStyle/>
          <a:p>
            <a:pPr algn="just">
              <a:lnSpc>
                <a:spcPts val="4900"/>
              </a:lnSpc>
            </a:pPr>
            <a:r>
              <a:rPr lang="en-US" sz="3500">
                <a:solidFill>
                  <a:srgbClr val="000000"/>
                </a:solidFill>
                <a:latin typeface="Calibri (MS)"/>
                <a:ea typeface="Calibri (MS)"/>
                <a:cs typeface="Calibri (MS)"/>
                <a:sym typeface="Calibri (MS)"/>
              </a:rPr>
              <a:t>Modelin Gücü: XGBoost sınıflandırma modeli, DF2_disruption_likelihood_score ile eğitildiğinde F1 = 1.00 elde etti. Ancak bu, skorun %97 etkisiyle oluşan yapay bir başarıydı. Skorsuz testte model F1 = 0.6393 ile çalıştı, bu da gerçek performansı gösterdi.</a:t>
            </a:r>
          </a:p>
          <a:p>
            <a:pPr algn="just">
              <a:lnSpc>
                <a:spcPts val="4900"/>
              </a:lnSpc>
            </a:pPr>
          </a:p>
          <a:p>
            <a:pPr algn="just">
              <a:lnSpc>
                <a:spcPts val="4900"/>
              </a:lnSpc>
            </a:pPr>
            <a:r>
              <a:rPr lang="en-US" sz="3500">
                <a:solidFill>
                  <a:srgbClr val="000000"/>
                </a:solidFill>
                <a:latin typeface="Calibri (MS)"/>
                <a:ea typeface="Calibri (MS)"/>
                <a:cs typeface="Calibri (MS)"/>
                <a:sym typeface="Calibri (MS)"/>
              </a:rPr>
              <a:t>Veri Sırrı: DF2 skoru, firmanın 'Kara Kutu' kurallarına göre çalışıyor (R² &lt; 0). Model bu skoru kullanarak %100 doğru sınıflandırma yapabiliyor, ancak nedenini açıklayamıyor.</a:t>
            </a:r>
          </a:p>
          <a:p>
            <a:pPr algn="just">
              <a:lnSpc>
                <a:spcPts val="4900"/>
              </a:lnSpc>
            </a:pPr>
          </a:p>
          <a:p>
            <a:pPr algn="just" marL="755651" indent="-377825" lvl="1">
              <a:lnSpc>
                <a:spcPts val="4900"/>
              </a:lnSpc>
              <a:buFont typeface="Arial"/>
              <a:buChar char="•"/>
            </a:pPr>
            <a:r>
              <a:rPr lang="en-US" sz="3500">
                <a:solidFill>
                  <a:srgbClr val="000000"/>
                </a:solidFill>
                <a:latin typeface="Calibri (MS)"/>
                <a:ea typeface="Calibri (MS)"/>
                <a:cs typeface="Calibri (MS)"/>
                <a:sym typeface="Calibri (MS)"/>
              </a:rPr>
              <a:t>Projenin asıl değeri, risk yönetimini Kara Kutu’dan bağımsız olarak hava durumu ve trafik gibi eyleme dönük faktörlere dayandırmaktır.</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2450034" y="714375"/>
            <a:ext cx="13387932"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OPERASYONEL YATIRIM</a:t>
            </a:r>
          </a:p>
        </p:txBody>
      </p:sp>
      <p:sp>
        <p:nvSpPr>
          <p:cNvPr name="TextBox 15" id="15"/>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
        <p:nvSpPr>
          <p:cNvPr name="TextBox 16" id="16"/>
          <p:cNvSpPr txBox="true"/>
          <p:nvPr/>
        </p:nvSpPr>
        <p:spPr>
          <a:xfrm rot="0">
            <a:off x="1028700" y="3233462"/>
            <a:ext cx="16230600" cy="6440805"/>
          </a:xfrm>
          <a:prstGeom prst="rect">
            <a:avLst/>
          </a:prstGeom>
        </p:spPr>
        <p:txBody>
          <a:bodyPr anchor="t" rtlCol="false" tIns="0" lIns="0" bIns="0" rIns="0">
            <a:spAutoFit/>
          </a:bodyPr>
          <a:lstStyle/>
          <a:p>
            <a:pPr algn="just">
              <a:lnSpc>
                <a:spcPts val="4619"/>
              </a:lnSpc>
            </a:pPr>
            <a:r>
              <a:rPr lang="en-US" sz="3299">
                <a:solidFill>
                  <a:srgbClr val="000000"/>
                </a:solidFill>
                <a:latin typeface="Calibri (MS)"/>
                <a:ea typeface="Calibri (MS)"/>
                <a:cs typeface="Calibri (MS)"/>
                <a:sym typeface="Calibri (MS)"/>
              </a:rPr>
              <a:t>Analiz sonuçları, kargo riskinin büyük ölçüde çevresel ve operasyonel faktörlerden kaynaklandığını göstermektedir. Bu nedenle, şirketlerin proaktif ve veri odaklı stratejiler geliştirmesi kritik önemdedir.</a:t>
            </a:r>
          </a:p>
          <a:p>
            <a:pPr algn="just">
              <a:lnSpc>
                <a:spcPts val="4619"/>
              </a:lnSpc>
            </a:pPr>
          </a:p>
          <a:p>
            <a:pPr algn="just">
              <a:lnSpc>
                <a:spcPts val="4619"/>
              </a:lnSpc>
            </a:pPr>
            <a:r>
              <a:rPr lang="en-US" sz="3299">
                <a:solidFill>
                  <a:srgbClr val="000000"/>
                </a:solidFill>
                <a:latin typeface="Calibri (MS)"/>
                <a:ea typeface="Calibri (MS)"/>
                <a:cs typeface="Calibri (MS)"/>
                <a:sym typeface="Calibri (MS)"/>
              </a:rPr>
              <a:t>Ön</a:t>
            </a:r>
            <a:r>
              <a:rPr lang="en-US" sz="3299">
                <a:solidFill>
                  <a:srgbClr val="000000"/>
                </a:solidFill>
                <a:latin typeface="Calibri (MS)"/>
                <a:ea typeface="Calibri (MS)"/>
                <a:cs typeface="Calibri (MS)"/>
                <a:sym typeface="Calibri (MS)"/>
              </a:rPr>
              <a:t>eri: Hava durumu, trafik yoğunluğu ve araç tipi değişkenlerine dayalı otomatik rota planlama, erteleme ve araç tipi optimizasyon sistemleri kurulmalıdır.</a:t>
            </a:r>
          </a:p>
          <a:p>
            <a:pPr algn="just">
              <a:lnSpc>
                <a:spcPts val="4619"/>
              </a:lnSpc>
            </a:pPr>
          </a:p>
          <a:p>
            <a:pPr algn="just">
              <a:lnSpc>
                <a:spcPts val="4619"/>
              </a:lnSpc>
            </a:pPr>
            <a:r>
              <a:rPr lang="en-US" sz="3299">
                <a:solidFill>
                  <a:srgbClr val="000000"/>
                </a:solidFill>
                <a:latin typeface="Calibri (MS)"/>
                <a:ea typeface="Calibri (MS)"/>
                <a:cs typeface="Calibri (MS)"/>
                <a:sym typeface="Calibri (MS)"/>
              </a:rPr>
              <a:t>Beklenen Etki:</a:t>
            </a:r>
          </a:p>
          <a:p>
            <a:pPr algn="just" marL="712467" indent="-356233" lvl="1">
              <a:lnSpc>
                <a:spcPts val="4619"/>
              </a:lnSpc>
              <a:buFont typeface="Arial"/>
              <a:buChar char="•"/>
            </a:pPr>
            <a:r>
              <a:rPr lang="en-US" sz="3299">
                <a:solidFill>
                  <a:srgbClr val="000000"/>
                </a:solidFill>
                <a:latin typeface="Calibri (MS)"/>
                <a:ea typeface="Calibri (MS)"/>
                <a:cs typeface="Calibri (MS)"/>
                <a:sym typeface="Calibri (MS)"/>
              </a:rPr>
              <a:t>Ani hava değişimleri veya yoğun trafik durumlarında hızlı tepki sağlanır.</a:t>
            </a:r>
          </a:p>
          <a:p>
            <a:pPr algn="just" marL="712467" indent="-356233" lvl="1">
              <a:lnSpc>
                <a:spcPts val="4619"/>
              </a:lnSpc>
              <a:buFont typeface="Arial"/>
              <a:buChar char="•"/>
            </a:pPr>
            <a:r>
              <a:rPr lang="en-US" sz="3299">
                <a:solidFill>
                  <a:srgbClr val="000000"/>
                </a:solidFill>
                <a:latin typeface="Calibri (MS)"/>
                <a:ea typeface="Calibri (MS)"/>
                <a:cs typeface="Calibri (MS)"/>
                <a:sym typeface="Calibri (MS)"/>
              </a:rPr>
              <a:t>Teslimat güvenliği ve zamanında teslimat oranları artar.</a:t>
            </a:r>
          </a:p>
          <a:p>
            <a:pPr algn="just" marL="712467" indent="-356233" lvl="1">
              <a:lnSpc>
                <a:spcPts val="4619"/>
              </a:lnSpc>
              <a:buFont typeface="Arial"/>
              <a:buChar char="•"/>
            </a:pPr>
            <a:r>
              <a:rPr lang="en-US" sz="3299">
                <a:solidFill>
                  <a:srgbClr val="000000"/>
                </a:solidFill>
                <a:latin typeface="Calibri (MS)"/>
                <a:ea typeface="Calibri (MS)"/>
                <a:cs typeface="Calibri (MS)"/>
                <a:sym typeface="Calibri (MS)"/>
              </a:rPr>
              <a:t>Operasyonel esneklik ve çeviklik güçlenir.</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3273691" y="714375"/>
            <a:ext cx="11740619"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COĞRAFI RISK YÖNETIMI</a:t>
            </a:r>
          </a:p>
        </p:txBody>
      </p:sp>
      <p:sp>
        <p:nvSpPr>
          <p:cNvPr name="TextBox 15" id="15"/>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03</a:t>
            </a:r>
          </a:p>
        </p:txBody>
      </p:sp>
      <p:sp>
        <p:nvSpPr>
          <p:cNvPr name="TextBox 16" id="16"/>
          <p:cNvSpPr txBox="true"/>
          <p:nvPr/>
        </p:nvSpPr>
        <p:spPr>
          <a:xfrm rot="0">
            <a:off x="1028700" y="3205692"/>
            <a:ext cx="16230600" cy="6440804"/>
          </a:xfrm>
          <a:prstGeom prst="rect">
            <a:avLst/>
          </a:prstGeom>
        </p:spPr>
        <p:txBody>
          <a:bodyPr anchor="t" rtlCol="false" tIns="0" lIns="0" bIns="0" rIns="0">
            <a:spAutoFit/>
          </a:bodyPr>
          <a:lstStyle/>
          <a:p>
            <a:pPr algn="just">
              <a:lnSpc>
                <a:spcPts val="4620"/>
              </a:lnSpc>
            </a:pPr>
            <a:r>
              <a:rPr lang="en-US" sz="3300">
                <a:solidFill>
                  <a:srgbClr val="000000"/>
                </a:solidFill>
                <a:latin typeface="Calibri (MS)"/>
                <a:ea typeface="Calibri (MS)"/>
                <a:cs typeface="Calibri (MS)"/>
                <a:sym typeface="Calibri (MS)"/>
              </a:rPr>
              <a:t>Bölge türü değişkeninin (%8.07) etkisi, bazı bölgelerde riskin daha yüksek olduğunu göstermektedir. Özellikle kırsal ve yarı kentsel bölgeler, ek önlemler gerektirmektedir.</a:t>
            </a:r>
          </a:p>
          <a:p>
            <a:pPr algn="just">
              <a:lnSpc>
                <a:spcPts val="4620"/>
              </a:lnSpc>
            </a:pPr>
          </a:p>
          <a:p>
            <a:pPr algn="just">
              <a:lnSpc>
                <a:spcPts val="4620"/>
              </a:lnSpc>
            </a:pPr>
            <a:r>
              <a:rPr lang="en-US" sz="3300">
                <a:solidFill>
                  <a:srgbClr val="000000"/>
                </a:solidFill>
                <a:latin typeface="Calibri (MS)"/>
                <a:ea typeface="Calibri (MS)"/>
                <a:cs typeface="Calibri (MS)"/>
                <a:sym typeface="Calibri (MS)"/>
              </a:rPr>
              <a:t>Ön</a:t>
            </a:r>
            <a:r>
              <a:rPr lang="en-US" sz="3300">
                <a:solidFill>
                  <a:srgbClr val="000000"/>
                </a:solidFill>
                <a:latin typeface="Calibri (MS)"/>
                <a:ea typeface="Calibri (MS)"/>
                <a:cs typeface="Calibri (MS)"/>
                <a:sym typeface="Calibri (MS)"/>
              </a:rPr>
              <a:t>eri:</a:t>
            </a:r>
          </a:p>
          <a:p>
            <a:pPr algn="just" marL="712475" indent="-356237" lvl="1">
              <a:lnSpc>
                <a:spcPts val="4620"/>
              </a:lnSpc>
              <a:buFont typeface="Arial"/>
              <a:buChar char="•"/>
            </a:pPr>
            <a:r>
              <a:rPr lang="en-US" sz="3300">
                <a:solidFill>
                  <a:srgbClr val="000000"/>
                </a:solidFill>
                <a:latin typeface="Calibri (MS)"/>
                <a:ea typeface="Calibri (MS)"/>
                <a:cs typeface="Calibri (MS)"/>
                <a:sym typeface="Calibri (MS)"/>
              </a:rPr>
              <a:t>Bu bölgelerde ek sigorta önlemleri ve güvenlikli taşıma protokolleri uygulanmalıdır.</a:t>
            </a:r>
          </a:p>
          <a:p>
            <a:pPr algn="just" marL="712475" indent="-356237" lvl="1">
              <a:lnSpc>
                <a:spcPts val="4620"/>
              </a:lnSpc>
              <a:buFont typeface="Arial"/>
              <a:buChar char="•"/>
            </a:pPr>
            <a:r>
              <a:rPr lang="en-US" sz="3300">
                <a:solidFill>
                  <a:srgbClr val="000000"/>
                </a:solidFill>
                <a:latin typeface="Calibri (MS)"/>
                <a:ea typeface="Calibri (MS)"/>
                <a:cs typeface="Calibri (MS)"/>
                <a:sym typeface="Calibri (MS)"/>
              </a:rPr>
              <a:t>Yerel iş birlikleri ile riskli rotaların güvenliği artırılabilir.</a:t>
            </a:r>
          </a:p>
          <a:p>
            <a:pPr algn="just">
              <a:lnSpc>
                <a:spcPts val="4620"/>
              </a:lnSpc>
            </a:pPr>
          </a:p>
          <a:p>
            <a:pPr algn="just">
              <a:lnSpc>
                <a:spcPts val="4620"/>
              </a:lnSpc>
            </a:pPr>
            <a:r>
              <a:rPr lang="en-US" sz="3300">
                <a:solidFill>
                  <a:srgbClr val="000000"/>
                </a:solidFill>
                <a:latin typeface="Calibri (MS)"/>
                <a:ea typeface="Calibri (MS)"/>
                <a:cs typeface="Calibri (MS)"/>
                <a:sym typeface="Calibri (MS)"/>
              </a:rPr>
              <a:t>Beklenen Etki:</a:t>
            </a:r>
          </a:p>
          <a:p>
            <a:pPr algn="just" marL="712475" indent="-356237" lvl="1">
              <a:lnSpc>
                <a:spcPts val="4620"/>
              </a:lnSpc>
              <a:buFont typeface="Arial"/>
              <a:buChar char="•"/>
            </a:pPr>
            <a:r>
              <a:rPr lang="en-US" sz="3300">
                <a:solidFill>
                  <a:srgbClr val="000000"/>
                </a:solidFill>
                <a:latin typeface="Calibri (MS)"/>
                <a:ea typeface="Calibri (MS)"/>
                <a:cs typeface="Calibri (MS)"/>
                <a:sym typeface="Calibri (MS)"/>
              </a:rPr>
              <a:t>Riskli rotalarda teslimat güvenliği sağlanır.</a:t>
            </a:r>
          </a:p>
          <a:p>
            <a:pPr algn="just" marL="712475" indent="-356237" lvl="1">
              <a:lnSpc>
                <a:spcPts val="4620"/>
              </a:lnSpc>
              <a:buFont typeface="Arial"/>
              <a:buChar char="•"/>
            </a:pPr>
            <a:r>
              <a:rPr lang="en-US" sz="3300">
                <a:solidFill>
                  <a:srgbClr val="000000"/>
                </a:solidFill>
                <a:latin typeface="Calibri (MS)"/>
                <a:ea typeface="Calibri (MS)"/>
                <a:cs typeface="Calibri (MS)"/>
                <a:sym typeface="Calibri (MS)"/>
              </a:rPr>
              <a:t>Operasyonel ve finansal kayıplar azalır.</a:t>
            </a:r>
          </a:p>
          <a:p>
            <a:pPr algn="just" marL="712475" indent="-356237" lvl="1">
              <a:lnSpc>
                <a:spcPts val="4620"/>
              </a:lnSpc>
              <a:buFont typeface="Arial"/>
              <a:buChar char="•"/>
            </a:pPr>
            <a:r>
              <a:rPr lang="en-US" sz="3300">
                <a:solidFill>
                  <a:srgbClr val="000000"/>
                </a:solidFill>
                <a:latin typeface="Calibri (MS)"/>
                <a:ea typeface="Calibri (MS)"/>
                <a:cs typeface="Calibri (MS)"/>
                <a:sym typeface="Calibri (MS)"/>
              </a:rPr>
              <a:t>Şi</a:t>
            </a:r>
            <a:r>
              <a:rPr lang="en-US" sz="3300">
                <a:solidFill>
                  <a:srgbClr val="000000"/>
                </a:solidFill>
                <a:latin typeface="Calibri (MS)"/>
                <a:ea typeface="Calibri (MS)"/>
                <a:cs typeface="Calibri (MS)"/>
                <a:sym typeface="Calibri (MS)"/>
              </a:rPr>
              <a:t>rketin genel risk yönetim kapasitesi güçlenir.</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3273691" y="958294"/>
            <a:ext cx="11740619"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TARTIŞMA</a:t>
            </a:r>
          </a:p>
        </p:txBody>
      </p:sp>
      <p:sp>
        <p:nvSpPr>
          <p:cNvPr name="TextBox 15" id="15"/>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04</a:t>
            </a:r>
          </a:p>
        </p:txBody>
      </p:sp>
      <p:sp>
        <p:nvSpPr>
          <p:cNvPr name="TextBox 16" id="16"/>
          <p:cNvSpPr txBox="true"/>
          <p:nvPr/>
        </p:nvSpPr>
        <p:spPr>
          <a:xfrm rot="0">
            <a:off x="1151052" y="3287712"/>
            <a:ext cx="15985897" cy="6212840"/>
          </a:xfrm>
          <a:prstGeom prst="rect">
            <a:avLst/>
          </a:prstGeom>
        </p:spPr>
        <p:txBody>
          <a:bodyPr anchor="t" rtlCol="false" tIns="0" lIns="0" bIns="0" rIns="0">
            <a:spAutoFit/>
          </a:bodyPr>
          <a:lstStyle/>
          <a:p>
            <a:pPr algn="just">
              <a:lnSpc>
                <a:spcPts val="4059"/>
              </a:lnSpc>
            </a:pPr>
            <a:r>
              <a:rPr lang="en-US" sz="2899">
                <a:solidFill>
                  <a:srgbClr val="000000"/>
                </a:solidFill>
                <a:latin typeface="Calibri (MS)"/>
                <a:ea typeface="Calibri (MS)"/>
                <a:cs typeface="Calibri (MS)"/>
                <a:sym typeface="Calibri (MS)"/>
              </a:rPr>
              <a:t>Bu çalışma, büyük v</a:t>
            </a:r>
            <a:r>
              <a:rPr lang="en-US" sz="2899">
                <a:solidFill>
                  <a:srgbClr val="000000"/>
                </a:solidFill>
                <a:latin typeface="Calibri (MS)"/>
                <a:ea typeface="Calibri (MS)"/>
                <a:cs typeface="Calibri (MS)"/>
                <a:sym typeface="Calibri (MS)"/>
              </a:rPr>
              <a:t>eri ile makine öğrenimi uygulamalarında görülen kara kutu bağımlılığı ve metodolojik paradoksları ele almıştır.</a:t>
            </a:r>
          </a:p>
          <a:p>
            <a:pPr algn="just">
              <a:lnSpc>
                <a:spcPts val="4059"/>
              </a:lnSpc>
            </a:pPr>
          </a:p>
          <a:p>
            <a:pPr algn="just">
              <a:lnSpc>
                <a:spcPts val="4059"/>
              </a:lnSpc>
            </a:pPr>
            <a:r>
              <a:rPr lang="en-US" sz="2899">
                <a:solidFill>
                  <a:srgbClr val="000000"/>
                </a:solidFill>
                <a:latin typeface="Calibri (MS)"/>
                <a:ea typeface="Calibri (MS)"/>
                <a:cs typeface="Calibri (MS)"/>
                <a:sym typeface="Calibri (MS)"/>
              </a:rPr>
              <a:t>Metodo</a:t>
            </a:r>
            <a:r>
              <a:rPr lang="en-US" sz="2899">
                <a:solidFill>
                  <a:srgbClr val="000000"/>
                </a:solidFill>
                <a:latin typeface="Calibri (MS)"/>
                <a:ea typeface="Calibri (MS)"/>
                <a:cs typeface="Calibri (MS)"/>
                <a:sym typeface="Calibri (MS)"/>
              </a:rPr>
              <a:t>lojik Kanıt: Skorun mevcut özniteliklerle açıklanamayacağı kanıtlanmıştır. Bu, kurumun skor bağımlılığından kurtulmasını sağlayan kritik bir bulgudur.</a:t>
            </a:r>
          </a:p>
          <a:p>
            <a:pPr algn="just">
              <a:lnSpc>
                <a:spcPts val="4059"/>
              </a:lnSpc>
            </a:pPr>
          </a:p>
          <a:p>
            <a:pPr algn="just">
              <a:lnSpc>
                <a:spcPts val="4059"/>
              </a:lnSpc>
            </a:pPr>
            <a:r>
              <a:rPr lang="en-US" sz="2899">
                <a:solidFill>
                  <a:srgbClr val="000000"/>
                </a:solidFill>
                <a:latin typeface="Calibri (MS)"/>
                <a:ea typeface="Calibri (MS)"/>
                <a:cs typeface="Calibri (MS)"/>
                <a:sym typeface="Calibri (MS)"/>
              </a:rPr>
              <a:t>Gerçek Performans ve Sınıf Yönetimi: Skor çıkarıldığında model, operasyonel veri ile ulaşılabilecek maksimum gerçek performansı yansıtmaktadır. Düşük ve orta risk sınıfları için gizli sinyaller mevcut değildir, model yalnızca yüksek riskleri güvenilir biçimde tanımaktadır.</a:t>
            </a:r>
          </a:p>
          <a:p>
            <a:pPr algn="just">
              <a:lnSpc>
                <a:spcPts val="4059"/>
              </a:lnSpc>
            </a:pPr>
          </a:p>
          <a:p>
            <a:pPr algn="just">
              <a:lnSpc>
                <a:spcPts val="4059"/>
              </a:lnSpc>
            </a:pPr>
            <a:r>
              <a:rPr lang="en-US" sz="2899">
                <a:solidFill>
                  <a:srgbClr val="000000"/>
                </a:solidFill>
                <a:latin typeface="Calibri (MS)"/>
                <a:ea typeface="Calibri (MS)"/>
                <a:cs typeface="Calibri (MS)"/>
                <a:sym typeface="Calibri (MS)"/>
              </a:rPr>
              <a:t>Çıkarım</a:t>
            </a:r>
            <a:r>
              <a:rPr lang="en-US" sz="2899">
                <a:solidFill>
                  <a:srgbClr val="000000"/>
                </a:solidFill>
                <a:latin typeface="Calibri (MS)"/>
                <a:ea typeface="Calibri (MS)"/>
                <a:cs typeface="Calibri (MS)"/>
                <a:sym typeface="Calibri (MS)"/>
              </a:rPr>
              <a:t>: Model, risk sınıflandırmasında iş mantığına uygun ve güvenli bir davranış sergilemektedir. Bu, karar alma süreçlerinde güvenilir bir temel sağlar ve operasyonel önlemlerin hedeflenmesini kolaylaştırır.</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3273691" y="958294"/>
            <a:ext cx="11740619"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SONUÇ </a:t>
            </a:r>
          </a:p>
        </p:txBody>
      </p:sp>
      <p:sp>
        <p:nvSpPr>
          <p:cNvPr name="TextBox 15" id="15"/>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04</a:t>
            </a:r>
          </a:p>
        </p:txBody>
      </p:sp>
      <p:sp>
        <p:nvSpPr>
          <p:cNvPr name="TextBox 16" id="16"/>
          <p:cNvSpPr txBox="true"/>
          <p:nvPr/>
        </p:nvSpPr>
        <p:spPr>
          <a:xfrm rot="0">
            <a:off x="1205179" y="3464327"/>
            <a:ext cx="15877642" cy="6212840"/>
          </a:xfrm>
          <a:prstGeom prst="rect">
            <a:avLst/>
          </a:prstGeom>
        </p:spPr>
        <p:txBody>
          <a:bodyPr anchor="t" rtlCol="false" tIns="0" lIns="0" bIns="0" rIns="0">
            <a:spAutoFit/>
          </a:bodyPr>
          <a:lstStyle/>
          <a:p>
            <a:pPr algn="just">
              <a:lnSpc>
                <a:spcPts val="4059"/>
              </a:lnSpc>
            </a:pPr>
            <a:r>
              <a:rPr lang="en-US" sz="2899">
                <a:solidFill>
                  <a:srgbClr val="000000"/>
                </a:solidFill>
                <a:latin typeface="Calibri (MS)"/>
                <a:ea typeface="Calibri (MS)"/>
                <a:cs typeface="Calibri (MS)"/>
                <a:sym typeface="Calibri (MS)"/>
              </a:rPr>
              <a:t>Bu proje, tedarik zinciri risk modellemesinde en kritik çıktıyı sağlamıştır: </a:t>
            </a:r>
          </a:p>
          <a:p>
            <a:pPr algn="just">
              <a:lnSpc>
                <a:spcPts val="4059"/>
              </a:lnSpc>
            </a:pPr>
            <a:r>
              <a:rPr lang="en-US" sz="2899">
                <a:solidFill>
                  <a:srgbClr val="000000"/>
                </a:solidFill>
                <a:latin typeface="Calibri (MS)"/>
                <a:ea typeface="Calibri (MS)"/>
                <a:cs typeface="Calibri (MS)"/>
                <a:sym typeface="Calibri (MS)"/>
              </a:rPr>
              <a:t>Eyleme dönük bilgi (actionable contribution).</a:t>
            </a:r>
          </a:p>
          <a:p>
            <a:pPr algn="just">
              <a:lnSpc>
                <a:spcPts val="4059"/>
              </a:lnSpc>
            </a:pPr>
          </a:p>
          <a:p>
            <a:pPr algn="just">
              <a:lnSpc>
                <a:spcPts val="4059"/>
              </a:lnSpc>
            </a:pPr>
            <a:r>
              <a:rPr lang="en-US" sz="2899">
                <a:solidFill>
                  <a:srgbClr val="000000"/>
                </a:solidFill>
                <a:latin typeface="Calibri (MS)"/>
                <a:ea typeface="Calibri (MS)"/>
                <a:cs typeface="Calibri (MS)"/>
                <a:sym typeface="Calibri (MS)"/>
              </a:rPr>
              <a:t>K</a:t>
            </a:r>
            <a:r>
              <a:rPr lang="en-US" sz="2899">
                <a:solidFill>
                  <a:srgbClr val="000000"/>
                </a:solidFill>
                <a:latin typeface="Calibri (MS)"/>
                <a:ea typeface="Calibri (MS)"/>
                <a:cs typeface="Calibri (MS)"/>
                <a:sym typeface="Calibri (MS)"/>
              </a:rPr>
              <a:t>ara kutusu devre dışı bırakıldığında, modelin gücünü oluşturan en önemli dört operasyonel faktör belirlenmiştir:</a:t>
            </a:r>
          </a:p>
          <a:p>
            <a:pPr algn="just" marL="626109" indent="-313054" lvl="1">
              <a:lnSpc>
                <a:spcPts val="4059"/>
              </a:lnSpc>
              <a:buFont typeface="Arial"/>
              <a:buChar char="•"/>
            </a:pPr>
            <a:r>
              <a:rPr lang="en-US" sz="2899">
                <a:solidFill>
                  <a:srgbClr val="000000"/>
                </a:solidFill>
                <a:latin typeface="Calibri (MS)"/>
                <a:ea typeface="Calibri (MS)"/>
                <a:cs typeface="Calibri (MS)"/>
                <a:sym typeface="Calibri (MS)"/>
              </a:rPr>
              <a:t>Hava Koşulları</a:t>
            </a:r>
          </a:p>
          <a:p>
            <a:pPr algn="just" marL="626109" indent="-313054" lvl="1">
              <a:lnSpc>
                <a:spcPts val="4059"/>
              </a:lnSpc>
              <a:buFont typeface="Arial"/>
              <a:buChar char="•"/>
            </a:pPr>
            <a:r>
              <a:rPr lang="en-US" sz="2899">
                <a:solidFill>
                  <a:srgbClr val="000000"/>
                </a:solidFill>
                <a:latin typeface="Calibri (MS)"/>
                <a:ea typeface="Calibri (MS)"/>
                <a:cs typeface="Calibri (MS)"/>
                <a:sym typeface="Calibri (MS)"/>
              </a:rPr>
              <a:t>Trafik Yoğunluğu</a:t>
            </a:r>
          </a:p>
          <a:p>
            <a:pPr algn="just" marL="626109" indent="-313054" lvl="1">
              <a:lnSpc>
                <a:spcPts val="4059"/>
              </a:lnSpc>
              <a:buFont typeface="Arial"/>
              <a:buChar char="•"/>
            </a:pPr>
            <a:r>
              <a:rPr lang="en-US" sz="2899">
                <a:solidFill>
                  <a:srgbClr val="000000"/>
                </a:solidFill>
                <a:latin typeface="Calibri (MS)"/>
                <a:ea typeface="Calibri (MS)"/>
                <a:cs typeface="Calibri (MS)"/>
                <a:sym typeface="Calibri (MS)"/>
              </a:rPr>
              <a:t>Araç Tipi</a:t>
            </a:r>
          </a:p>
          <a:p>
            <a:pPr algn="just" marL="626109" indent="-313054" lvl="1">
              <a:lnSpc>
                <a:spcPts val="4059"/>
              </a:lnSpc>
              <a:buFont typeface="Arial"/>
              <a:buChar char="•"/>
            </a:pPr>
            <a:r>
              <a:rPr lang="en-US" sz="2899">
                <a:solidFill>
                  <a:srgbClr val="000000"/>
                </a:solidFill>
                <a:latin typeface="Calibri (MS)"/>
                <a:ea typeface="Calibri (MS)"/>
                <a:cs typeface="Calibri (MS)"/>
                <a:sym typeface="Calibri (MS)"/>
              </a:rPr>
              <a:t>Bölge Türü</a:t>
            </a:r>
          </a:p>
          <a:p>
            <a:pPr algn="just">
              <a:lnSpc>
                <a:spcPts val="4059"/>
              </a:lnSpc>
            </a:pPr>
          </a:p>
          <a:p>
            <a:pPr algn="just">
              <a:lnSpc>
                <a:spcPts val="4059"/>
              </a:lnSpc>
            </a:pPr>
            <a:r>
              <a:rPr lang="en-US" sz="2899">
                <a:solidFill>
                  <a:srgbClr val="000000"/>
                </a:solidFill>
                <a:latin typeface="Calibri (MS)"/>
                <a:ea typeface="Calibri (MS)"/>
                <a:cs typeface="Calibri (MS)"/>
                <a:sym typeface="Calibri (MS)"/>
              </a:rPr>
              <a:t>Bu faktörler, risk sınıflarında kayıpları azaltmak için şirketin doğrudan müdahale edebileceği alanları göstermektedir.</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3273691" y="958294"/>
            <a:ext cx="12192823"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İLERIDEKI ÇALIŞMA ALANLARI</a:t>
            </a:r>
          </a:p>
        </p:txBody>
      </p:sp>
      <p:sp>
        <p:nvSpPr>
          <p:cNvPr name="TextBox 15" id="15"/>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04</a:t>
            </a:r>
          </a:p>
        </p:txBody>
      </p:sp>
      <p:sp>
        <p:nvSpPr>
          <p:cNvPr name="TextBox 16" id="16"/>
          <p:cNvSpPr txBox="true"/>
          <p:nvPr/>
        </p:nvSpPr>
        <p:spPr>
          <a:xfrm rot="0">
            <a:off x="1689683" y="3045460"/>
            <a:ext cx="14908635" cy="6212840"/>
          </a:xfrm>
          <a:prstGeom prst="rect">
            <a:avLst/>
          </a:prstGeom>
        </p:spPr>
        <p:txBody>
          <a:bodyPr anchor="t" rtlCol="false" tIns="0" lIns="0" bIns="0" rIns="0">
            <a:spAutoFit/>
          </a:bodyPr>
          <a:lstStyle/>
          <a:p>
            <a:pPr algn="just">
              <a:lnSpc>
                <a:spcPts val="4059"/>
              </a:lnSpc>
            </a:pPr>
            <a:r>
              <a:rPr lang="en-US" sz="2899">
                <a:solidFill>
                  <a:srgbClr val="000000"/>
                </a:solidFill>
                <a:latin typeface="Calibri (MS)"/>
                <a:ea typeface="Calibri (MS)"/>
                <a:cs typeface="Calibri (MS)"/>
                <a:sym typeface="Calibri (MS)"/>
              </a:rPr>
              <a:t>1- Dış Veri Entegrasyonu:</a:t>
            </a:r>
          </a:p>
          <a:p>
            <a:pPr algn="just" marL="626109" indent="-313054" lvl="1">
              <a:lnSpc>
                <a:spcPts val="4059"/>
              </a:lnSpc>
              <a:buFont typeface="Arial"/>
              <a:buChar char="•"/>
            </a:pPr>
            <a:r>
              <a:rPr lang="en-US" sz="2899">
                <a:solidFill>
                  <a:srgbClr val="000000"/>
                </a:solidFill>
                <a:latin typeface="Calibri (MS)"/>
                <a:ea typeface="Calibri (MS)"/>
                <a:cs typeface="Calibri (MS)"/>
                <a:sym typeface="Calibri (MS)"/>
              </a:rPr>
              <a:t> Modelin yakalama oranını artırmak için finansal volatilite verileri, tedarikçi performans kayıtları veya jeopolitik istikr</a:t>
            </a:r>
            <a:r>
              <a:rPr lang="en-US" sz="2899">
                <a:solidFill>
                  <a:srgbClr val="000000"/>
                </a:solidFill>
                <a:latin typeface="Calibri (MS)"/>
                <a:ea typeface="Calibri (MS)"/>
                <a:cs typeface="Calibri (MS)"/>
                <a:sym typeface="Calibri (MS)"/>
              </a:rPr>
              <a:t>ar endeksleri gibi dış veri kaynakları eklenebilir.</a:t>
            </a:r>
          </a:p>
          <a:p>
            <a:pPr algn="just">
              <a:lnSpc>
                <a:spcPts val="4059"/>
              </a:lnSpc>
            </a:pPr>
          </a:p>
          <a:p>
            <a:pPr algn="just">
              <a:lnSpc>
                <a:spcPts val="4059"/>
              </a:lnSpc>
            </a:pPr>
            <a:r>
              <a:rPr lang="en-US" sz="2899">
                <a:solidFill>
                  <a:srgbClr val="000000"/>
                </a:solidFill>
                <a:latin typeface="Calibri (MS)"/>
                <a:ea typeface="Calibri (MS)"/>
                <a:cs typeface="Calibri (MS)"/>
                <a:sym typeface="Calibri (MS)"/>
              </a:rPr>
              <a:t>2- </a:t>
            </a:r>
            <a:r>
              <a:rPr lang="en-US" sz="2899">
                <a:solidFill>
                  <a:srgbClr val="000000"/>
                </a:solidFill>
                <a:latin typeface="Calibri (MS)"/>
                <a:ea typeface="Calibri (MS)"/>
                <a:cs typeface="Calibri (MS)"/>
                <a:sym typeface="Calibri (MS)"/>
              </a:rPr>
              <a:t>Maliyet Odaklı Optimizasyon:</a:t>
            </a:r>
          </a:p>
          <a:p>
            <a:pPr algn="just" marL="626109" indent="-313054" lvl="1">
              <a:lnSpc>
                <a:spcPts val="4059"/>
              </a:lnSpc>
              <a:buFont typeface="Arial"/>
              <a:buChar char="•"/>
            </a:pPr>
            <a:r>
              <a:rPr lang="en-US" sz="2899">
                <a:solidFill>
                  <a:srgbClr val="000000"/>
                </a:solidFill>
                <a:latin typeface="Calibri (MS)"/>
                <a:ea typeface="Calibri (MS)"/>
                <a:cs typeface="Calibri (MS)"/>
                <a:sym typeface="Calibri (MS)"/>
              </a:rPr>
              <a:t> Yalnızca genel F1 Skoru yerine, yüksek risk tahmin edilemediğinde maliyeti maksimize eden cost-sensitive learning yaklaşımı uygulanabilir.</a:t>
            </a:r>
          </a:p>
          <a:p>
            <a:pPr algn="just">
              <a:lnSpc>
                <a:spcPts val="4059"/>
              </a:lnSpc>
            </a:pPr>
          </a:p>
          <a:p>
            <a:pPr algn="just">
              <a:lnSpc>
                <a:spcPts val="4059"/>
              </a:lnSpc>
            </a:pPr>
            <a:r>
              <a:rPr lang="en-US" sz="2899">
                <a:solidFill>
                  <a:srgbClr val="000000"/>
                </a:solidFill>
                <a:latin typeface="Calibri (MS)"/>
                <a:ea typeface="Calibri (MS)"/>
                <a:cs typeface="Calibri (MS)"/>
                <a:sym typeface="Calibri (MS)"/>
              </a:rPr>
              <a:t>3- </a:t>
            </a:r>
            <a:r>
              <a:rPr lang="en-US" sz="2899">
                <a:solidFill>
                  <a:srgbClr val="000000"/>
                </a:solidFill>
                <a:latin typeface="Calibri (MS)"/>
                <a:ea typeface="Calibri (MS)"/>
                <a:cs typeface="Calibri (MS)"/>
                <a:sym typeface="Calibri (MS)"/>
              </a:rPr>
              <a:t>Hassas Coğrafi Modelleme:</a:t>
            </a:r>
          </a:p>
          <a:p>
            <a:pPr algn="just" marL="626109" indent="-313054" lvl="1">
              <a:lnSpc>
                <a:spcPts val="4059"/>
              </a:lnSpc>
              <a:buFont typeface="Arial"/>
              <a:buChar char="•"/>
            </a:pPr>
            <a:r>
              <a:rPr lang="en-US" sz="2899">
                <a:solidFill>
                  <a:srgbClr val="000000"/>
                </a:solidFill>
                <a:latin typeface="Calibri (MS)"/>
                <a:ea typeface="Calibri (MS)"/>
                <a:cs typeface="Calibri (MS)"/>
                <a:sym typeface="Calibri (MS)"/>
              </a:rPr>
              <a:t> Bölge türü faktörünün önemine dayanarak, lojistik risklerini daha hassas tahmin etmek için mahalle veya ilçe düzeyinde geospatial analizler yapılabilir.</a:t>
            </a:r>
          </a:p>
          <a:p>
            <a:pPr algn="just">
              <a:lnSpc>
                <a:spcPts val="4059"/>
              </a:lnSpc>
            </a:pP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038330" y="-2073710"/>
            <a:ext cx="5041299" cy="50412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3273691" y="958294"/>
            <a:ext cx="12350968" cy="1530349"/>
          </a:xfrm>
          <a:prstGeom prst="rect">
            <a:avLst/>
          </a:prstGeom>
        </p:spPr>
        <p:txBody>
          <a:bodyPr anchor="t" rtlCol="false" tIns="0" lIns="0" bIns="0" rIns="0">
            <a:spAutoFit/>
          </a:bodyPr>
          <a:lstStyle/>
          <a:p>
            <a:pPr algn="ctr">
              <a:lnSpc>
                <a:spcPts val="11200"/>
              </a:lnSpc>
            </a:pPr>
            <a:r>
              <a:rPr lang="en-US" sz="8000">
                <a:solidFill>
                  <a:srgbClr val="004AAD"/>
                </a:solidFill>
                <a:latin typeface="Calibri (MS)"/>
                <a:ea typeface="Calibri (MS)"/>
                <a:cs typeface="Calibri (MS)"/>
                <a:sym typeface="Calibri (MS)"/>
              </a:rPr>
              <a:t>SCM SKORLAMA MANTIĞI</a:t>
            </a:r>
          </a:p>
        </p:txBody>
      </p:sp>
      <p:sp>
        <p:nvSpPr>
          <p:cNvPr name="TextBox 15" id="15"/>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04</a:t>
            </a:r>
          </a:p>
        </p:txBody>
      </p:sp>
      <p:sp>
        <p:nvSpPr>
          <p:cNvPr name="TextBox 16" id="16"/>
          <p:cNvSpPr txBox="true"/>
          <p:nvPr/>
        </p:nvSpPr>
        <p:spPr>
          <a:xfrm rot="0">
            <a:off x="1953310" y="3022600"/>
            <a:ext cx="14419479" cy="6235700"/>
          </a:xfrm>
          <a:prstGeom prst="rect">
            <a:avLst/>
          </a:prstGeom>
        </p:spPr>
        <p:txBody>
          <a:bodyPr anchor="t" rtlCol="false" tIns="0" lIns="0" bIns="0" rIns="0">
            <a:spAutoFit/>
          </a:bodyPr>
          <a:lstStyle/>
          <a:p>
            <a:pPr algn="just">
              <a:lnSpc>
                <a:spcPts val="4899"/>
              </a:lnSpc>
            </a:pPr>
            <a:r>
              <a:rPr lang="en-US" sz="3499">
                <a:solidFill>
                  <a:srgbClr val="000000"/>
                </a:solidFill>
                <a:latin typeface="Calibri (MS)"/>
                <a:ea typeface="Calibri (MS)"/>
                <a:cs typeface="Calibri (MS)"/>
                <a:sym typeface="Calibri (MS)"/>
              </a:rPr>
              <a:t>Risk genellikle Olasılık × Etki formülü ile hesaplanır.</a:t>
            </a:r>
          </a:p>
          <a:p>
            <a:pPr algn="just">
              <a:lnSpc>
                <a:spcPts val="4899"/>
              </a:lnSpc>
            </a:pPr>
            <a:r>
              <a:rPr lang="en-US" sz="3499">
                <a:solidFill>
                  <a:srgbClr val="000000"/>
                </a:solidFill>
                <a:latin typeface="Calibri (MS)"/>
                <a:ea typeface="Calibri (MS)"/>
                <a:cs typeface="Calibri (MS)"/>
                <a:sym typeface="Calibri (MS)"/>
              </a:rPr>
              <a:t>DF2_disruption_likelihood_score, bu formüldeki Olasılık bileşenini temsil eder.</a:t>
            </a:r>
          </a:p>
          <a:p>
            <a:pPr algn="just">
              <a:lnSpc>
                <a:spcPts val="4899"/>
              </a:lnSpc>
            </a:pPr>
          </a:p>
          <a:p>
            <a:pPr algn="just">
              <a:lnSpc>
                <a:spcPts val="4899"/>
              </a:lnSpc>
            </a:pPr>
            <a:r>
              <a:rPr lang="en-US" sz="3499">
                <a:solidFill>
                  <a:srgbClr val="000000"/>
                </a:solidFill>
                <a:latin typeface="Calibri (MS)"/>
                <a:ea typeface="Calibri (MS)"/>
                <a:cs typeface="Calibri (MS)"/>
                <a:sym typeface="Calibri (MS)"/>
              </a:rPr>
              <a:t>Skor, basit bir ölçüm olmayıp dışsal faktörleri içerir:</a:t>
            </a:r>
          </a:p>
          <a:p>
            <a:pPr algn="just" marL="755649" indent="-377824" lvl="1">
              <a:lnSpc>
                <a:spcPts val="4899"/>
              </a:lnSpc>
              <a:buFont typeface="Arial"/>
              <a:buChar char="•"/>
            </a:pPr>
            <a:r>
              <a:rPr lang="en-US" sz="3499">
                <a:solidFill>
                  <a:srgbClr val="000000"/>
                </a:solidFill>
                <a:latin typeface="Calibri (MS)"/>
                <a:ea typeface="Calibri (MS)"/>
                <a:cs typeface="Calibri (MS)"/>
                <a:sym typeface="Calibri (MS)"/>
              </a:rPr>
              <a:t>Finansal Sağlık / Kredi Puanı: Mevcut veri setinde yok.</a:t>
            </a:r>
          </a:p>
          <a:p>
            <a:pPr algn="just" marL="755649" indent="-377824" lvl="1">
              <a:lnSpc>
                <a:spcPts val="4899"/>
              </a:lnSpc>
              <a:buFont typeface="Arial"/>
              <a:buChar char="•"/>
            </a:pPr>
            <a:r>
              <a:rPr lang="en-US" sz="3499">
                <a:solidFill>
                  <a:srgbClr val="000000"/>
                </a:solidFill>
                <a:latin typeface="Calibri (MS)"/>
                <a:ea typeface="Calibri (MS)"/>
                <a:cs typeface="Calibri (MS)"/>
                <a:sym typeface="Calibri (MS)"/>
              </a:rPr>
              <a:t>Jeopolitik Risk: Dış veri gerektirir.</a:t>
            </a:r>
          </a:p>
          <a:p>
            <a:pPr algn="just" marL="755649" indent="-377824" lvl="1">
              <a:lnSpc>
                <a:spcPts val="4899"/>
              </a:lnSpc>
              <a:buFont typeface="Arial"/>
              <a:buChar char="•"/>
            </a:pPr>
            <a:r>
              <a:rPr lang="en-US" sz="3499">
                <a:solidFill>
                  <a:srgbClr val="000000"/>
                </a:solidFill>
                <a:latin typeface="Calibri (MS)"/>
                <a:ea typeface="Calibri (MS)"/>
                <a:cs typeface="Calibri (MS)"/>
                <a:sym typeface="Calibri (MS)"/>
              </a:rPr>
              <a:t>Kural Tabanlı Eşikler: Belirli kurallara dayalı, mevcut veri setinde yok.</a:t>
            </a:r>
          </a:p>
          <a:p>
            <a:pPr algn="just" marL="755649" indent="-377824" lvl="1">
              <a:lnSpc>
                <a:spcPts val="4899"/>
              </a:lnSpc>
              <a:buFont typeface="Arial"/>
              <a:buChar char="•"/>
            </a:pPr>
            <a:r>
              <a:rPr lang="en-US" sz="3499">
                <a:solidFill>
                  <a:srgbClr val="000000"/>
                </a:solidFill>
                <a:latin typeface="Calibri (MS)"/>
                <a:ea typeface="Calibri (MS)"/>
                <a:cs typeface="Calibri (MS)"/>
                <a:sym typeface="Calibri (MS)"/>
              </a:rPr>
              <a:t>Tedarikçi Skoru: DF4_RI_Supplier1 ile temsil ediliyor; diğer bileşenler eksik.</a:t>
            </a:r>
          </a:p>
          <a:p>
            <a:pPr algn="just">
              <a:lnSpc>
                <a:spcPts val="4899"/>
              </a:lnSpc>
            </a:pPr>
          </a:p>
          <a:p>
            <a:pPr algn="just">
              <a:lnSpc>
                <a:spcPts val="4899"/>
              </a:lnSpc>
            </a:pPr>
            <a:r>
              <a:rPr lang="en-US" sz="3499">
                <a:solidFill>
                  <a:srgbClr val="000000"/>
                </a:solidFill>
                <a:latin typeface="Calibri (MS)"/>
                <a:ea typeface="Calibri (MS)"/>
                <a:cs typeface="Calibri (MS)"/>
                <a:sym typeface="Calibri (MS)"/>
              </a:rPr>
              <a:t>Çıkarım: Skor, mevcut veri ile çözülemeyen Kara Kutu bir metriktir.</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AutoShape 11" id="11"/>
          <p:cNvSpPr/>
          <p:nvPr/>
        </p:nvSpPr>
        <p:spPr>
          <a:xfrm flipV="true">
            <a:off x="1381658" y="6616525"/>
            <a:ext cx="15588151" cy="19050"/>
          </a:xfrm>
          <a:prstGeom prst="line">
            <a:avLst/>
          </a:prstGeom>
          <a:ln cap="flat" w="38100">
            <a:solidFill>
              <a:srgbClr val="000000"/>
            </a:solidFill>
            <a:prstDash val="solid"/>
            <a:headEnd type="none" len="sm" w="sm"/>
            <a:tailEnd type="none" len="sm" w="sm"/>
          </a:ln>
        </p:spPr>
      </p:sp>
      <p:grpSp>
        <p:nvGrpSpPr>
          <p:cNvPr name="Group 12" id="12"/>
          <p:cNvGrpSpPr/>
          <p:nvPr/>
        </p:nvGrpSpPr>
        <p:grpSpPr>
          <a:xfrm rot="0">
            <a:off x="-2038330" y="-2073710"/>
            <a:ext cx="5041299" cy="504129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a:ln cap="sq">
              <a:noFill/>
              <a:prstDash val="solid"/>
              <a:miter/>
            </a:ln>
          </p:spPr>
        </p:sp>
        <p:sp>
          <p:nvSpPr>
            <p:cNvPr name="TextBox 14" id="14"/>
            <p:cNvSpPr txBox="true"/>
            <p:nvPr/>
          </p:nvSpPr>
          <p:spPr>
            <a:xfrm>
              <a:off x="76200" y="0"/>
              <a:ext cx="660400" cy="736600"/>
            </a:xfrm>
            <a:prstGeom prst="rect">
              <a:avLst/>
            </a:prstGeom>
          </p:spPr>
          <p:txBody>
            <a:bodyPr anchor="ctr" rtlCol="false" tIns="50800" lIns="50800" bIns="50800" rIns="50800"/>
            <a:lstStyle/>
            <a:p>
              <a:pPr algn="ctr">
                <a:lnSpc>
                  <a:spcPts val="2800"/>
                </a:lnSpc>
              </a:pPr>
            </a:p>
          </p:txBody>
        </p:sp>
      </p:grpSp>
      <p:sp>
        <p:nvSpPr>
          <p:cNvPr name="TextBox 15" id="15"/>
          <p:cNvSpPr txBox="true"/>
          <p:nvPr/>
        </p:nvSpPr>
        <p:spPr>
          <a:xfrm rot="0">
            <a:off x="3273691" y="752475"/>
            <a:ext cx="11740619" cy="2539361"/>
          </a:xfrm>
          <a:prstGeom prst="rect">
            <a:avLst/>
          </a:prstGeom>
        </p:spPr>
        <p:txBody>
          <a:bodyPr anchor="t" rtlCol="false" tIns="0" lIns="0" bIns="0" rIns="0">
            <a:spAutoFit/>
          </a:bodyPr>
          <a:lstStyle/>
          <a:p>
            <a:pPr algn="ctr">
              <a:lnSpc>
                <a:spcPts val="9660"/>
              </a:lnSpc>
            </a:pPr>
            <a:r>
              <a:rPr lang="en-US" sz="6900">
                <a:solidFill>
                  <a:srgbClr val="004AAD"/>
                </a:solidFill>
                <a:latin typeface="Calibri (MS)"/>
                <a:ea typeface="Calibri (MS)"/>
                <a:cs typeface="Calibri (MS)"/>
                <a:sym typeface="Calibri (MS)"/>
              </a:rPr>
              <a:t>KARA KUTU ÇÖZÜMLENMESI SONRASI KİLOMETRE TAŞLARI</a:t>
            </a:r>
          </a:p>
        </p:txBody>
      </p:sp>
      <p:sp>
        <p:nvSpPr>
          <p:cNvPr name="TextBox 16" id="16"/>
          <p:cNvSpPr txBox="true"/>
          <p:nvPr/>
        </p:nvSpPr>
        <p:spPr>
          <a:xfrm rot="0">
            <a:off x="411934" y="350281"/>
            <a:ext cx="1939447"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04</a:t>
            </a:r>
          </a:p>
        </p:txBody>
      </p:sp>
      <p:sp>
        <p:nvSpPr>
          <p:cNvPr name="TextBox 17" id="17"/>
          <p:cNvSpPr txBox="true"/>
          <p:nvPr/>
        </p:nvSpPr>
        <p:spPr>
          <a:xfrm rot="0">
            <a:off x="1028700" y="7610475"/>
            <a:ext cx="6196878" cy="2033905"/>
          </a:xfrm>
          <a:prstGeom prst="rect">
            <a:avLst/>
          </a:prstGeom>
        </p:spPr>
        <p:txBody>
          <a:bodyPr anchor="t" rtlCol="false" tIns="0" lIns="0" bIns="0" rIns="0">
            <a:spAutoFit/>
          </a:bodyPr>
          <a:lstStyle/>
          <a:p>
            <a:pPr algn="ctr">
              <a:lnSpc>
                <a:spcPts val="3919"/>
              </a:lnSpc>
            </a:pPr>
            <a:r>
              <a:rPr lang="en-US" sz="2799">
                <a:solidFill>
                  <a:srgbClr val="000000"/>
                </a:solidFill>
                <a:latin typeface="Calibri (MS)"/>
                <a:ea typeface="Calibri (MS)"/>
                <a:cs typeface="Calibri (MS)"/>
                <a:sym typeface="Calibri (MS)"/>
              </a:rPr>
              <a:t>Geliştirilen demo model kodlarının ve veri işleme süreçlerinin açık kaynak olarak paylaşılacağı bir Github deposu oluşturulacaktır.</a:t>
            </a:r>
          </a:p>
        </p:txBody>
      </p:sp>
      <p:sp>
        <p:nvSpPr>
          <p:cNvPr name="TextBox 18" id="18"/>
          <p:cNvSpPr txBox="true"/>
          <p:nvPr/>
        </p:nvSpPr>
        <p:spPr>
          <a:xfrm rot="0">
            <a:off x="11062422" y="7629525"/>
            <a:ext cx="6196878" cy="2014855"/>
          </a:xfrm>
          <a:prstGeom prst="rect">
            <a:avLst/>
          </a:prstGeom>
        </p:spPr>
        <p:txBody>
          <a:bodyPr anchor="t" rtlCol="false" tIns="0" lIns="0" bIns="0" rIns="0">
            <a:spAutoFit/>
          </a:bodyPr>
          <a:lstStyle/>
          <a:p>
            <a:pPr algn="ctr">
              <a:lnSpc>
                <a:spcPts val="3920"/>
              </a:lnSpc>
            </a:pPr>
            <a:r>
              <a:rPr lang="en-US" sz="2800">
                <a:solidFill>
                  <a:srgbClr val="000000"/>
                </a:solidFill>
                <a:latin typeface="Calibri (MS)"/>
                <a:ea typeface="Calibri (MS)"/>
                <a:cs typeface="Calibri (MS)"/>
                <a:sym typeface="Calibri (MS)"/>
              </a:rPr>
              <a:t>Elde edilen tüm bulgular, çözümlenen 'Kara Kutu' içgörüleri ve firma verileri kullanılarak bilimsel makale hazırlanıp literatüre katkı sunulacaktır.</a:t>
            </a:r>
          </a:p>
        </p:txBody>
      </p:sp>
      <p:sp>
        <p:nvSpPr>
          <p:cNvPr name="TextBox 19" id="19"/>
          <p:cNvSpPr txBox="true"/>
          <p:nvPr/>
        </p:nvSpPr>
        <p:spPr>
          <a:xfrm rot="0">
            <a:off x="6045561" y="4526431"/>
            <a:ext cx="6196878" cy="1519555"/>
          </a:xfrm>
          <a:prstGeom prst="rect">
            <a:avLst/>
          </a:prstGeom>
        </p:spPr>
        <p:txBody>
          <a:bodyPr anchor="t" rtlCol="false" tIns="0" lIns="0" bIns="0" rIns="0">
            <a:spAutoFit/>
          </a:bodyPr>
          <a:lstStyle/>
          <a:p>
            <a:pPr algn="ctr">
              <a:lnSpc>
                <a:spcPts val="3920"/>
              </a:lnSpc>
            </a:pPr>
            <a:r>
              <a:rPr lang="en-US" sz="2800">
                <a:solidFill>
                  <a:srgbClr val="000000"/>
                </a:solidFill>
                <a:latin typeface="Calibri (MS)"/>
                <a:ea typeface="Calibri (MS)"/>
                <a:cs typeface="Calibri (MS)"/>
                <a:sym typeface="Calibri (MS)"/>
              </a:rPr>
              <a:t>Anlaşma sağlanacak bir firma ile çalışılarak modelin gerçek operasyonel veriler üzerinde doğrulanması sağlanacaktır.</a:t>
            </a:r>
          </a:p>
        </p:txBody>
      </p:sp>
      <p:sp>
        <p:nvSpPr>
          <p:cNvPr name="TextBox 20" id="20"/>
          <p:cNvSpPr txBox="true"/>
          <p:nvPr/>
        </p:nvSpPr>
        <p:spPr>
          <a:xfrm rot="0">
            <a:off x="1318191" y="6918288"/>
            <a:ext cx="5617896" cy="765175"/>
          </a:xfrm>
          <a:prstGeom prst="rect">
            <a:avLst/>
          </a:prstGeom>
        </p:spPr>
        <p:txBody>
          <a:bodyPr anchor="t" rtlCol="false" tIns="0" lIns="0" bIns="0" rIns="0">
            <a:spAutoFit/>
          </a:bodyPr>
          <a:lstStyle/>
          <a:p>
            <a:pPr algn="ctr">
              <a:lnSpc>
                <a:spcPts val="5599"/>
              </a:lnSpc>
            </a:pPr>
            <a:r>
              <a:rPr lang="en-US" sz="3999" b="true">
                <a:solidFill>
                  <a:srgbClr val="004AAD"/>
                </a:solidFill>
                <a:latin typeface="Calibri (MS) Bold"/>
                <a:ea typeface="Calibri (MS) Bold"/>
                <a:cs typeface="Calibri (MS) Bold"/>
                <a:sym typeface="Calibri (MS) Bold"/>
              </a:rPr>
              <a:t>Faz 01</a:t>
            </a:r>
          </a:p>
        </p:txBody>
      </p:sp>
      <p:sp>
        <p:nvSpPr>
          <p:cNvPr name="TextBox 21" id="21"/>
          <p:cNvSpPr txBox="true"/>
          <p:nvPr/>
        </p:nvSpPr>
        <p:spPr>
          <a:xfrm rot="0">
            <a:off x="11351913" y="6918288"/>
            <a:ext cx="5617896" cy="765175"/>
          </a:xfrm>
          <a:prstGeom prst="rect">
            <a:avLst/>
          </a:prstGeom>
        </p:spPr>
        <p:txBody>
          <a:bodyPr anchor="t" rtlCol="false" tIns="0" lIns="0" bIns="0" rIns="0">
            <a:spAutoFit/>
          </a:bodyPr>
          <a:lstStyle/>
          <a:p>
            <a:pPr algn="ctr">
              <a:lnSpc>
                <a:spcPts val="5599"/>
              </a:lnSpc>
            </a:pPr>
            <a:r>
              <a:rPr lang="en-US" sz="3999" b="true">
                <a:solidFill>
                  <a:srgbClr val="004AAD"/>
                </a:solidFill>
                <a:latin typeface="Calibri (MS) Bold"/>
                <a:ea typeface="Calibri (MS) Bold"/>
                <a:cs typeface="Calibri (MS) Bold"/>
                <a:sym typeface="Calibri (MS) Bold"/>
              </a:rPr>
              <a:t>Faz 03</a:t>
            </a:r>
          </a:p>
        </p:txBody>
      </p:sp>
      <p:grpSp>
        <p:nvGrpSpPr>
          <p:cNvPr name="Group 22" id="22"/>
          <p:cNvGrpSpPr/>
          <p:nvPr/>
        </p:nvGrpSpPr>
        <p:grpSpPr>
          <a:xfrm rot="0">
            <a:off x="3875370" y="6364756"/>
            <a:ext cx="10537260" cy="503538"/>
            <a:chOff x="0" y="0"/>
            <a:chExt cx="14049680" cy="671384"/>
          </a:xfrm>
        </p:grpSpPr>
        <p:sp>
          <p:nvSpPr>
            <p:cNvPr name="Freeform 23" id="23"/>
            <p:cNvSpPr/>
            <p:nvPr/>
          </p:nvSpPr>
          <p:spPr>
            <a:xfrm flipH="false" flipV="false" rot="0">
              <a:off x="0" y="0"/>
              <a:ext cx="671384" cy="671384"/>
            </a:xfrm>
            <a:custGeom>
              <a:avLst/>
              <a:gdLst/>
              <a:ahLst/>
              <a:cxnLst/>
              <a:rect r="r" b="b" t="t" l="l"/>
              <a:pathLst>
                <a:path h="671384" w="671384">
                  <a:moveTo>
                    <a:pt x="0" y="0"/>
                  </a:moveTo>
                  <a:lnTo>
                    <a:pt x="671384" y="0"/>
                  </a:lnTo>
                  <a:lnTo>
                    <a:pt x="671384" y="671384"/>
                  </a:lnTo>
                  <a:lnTo>
                    <a:pt x="0" y="671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false" rot="0">
              <a:off x="6689148" y="0"/>
              <a:ext cx="671384" cy="671384"/>
            </a:xfrm>
            <a:custGeom>
              <a:avLst/>
              <a:gdLst/>
              <a:ahLst/>
              <a:cxnLst/>
              <a:rect r="r" b="b" t="t" l="l"/>
              <a:pathLst>
                <a:path h="671384" w="671384">
                  <a:moveTo>
                    <a:pt x="0" y="0"/>
                  </a:moveTo>
                  <a:lnTo>
                    <a:pt x="671384" y="0"/>
                  </a:lnTo>
                  <a:lnTo>
                    <a:pt x="671384" y="671384"/>
                  </a:lnTo>
                  <a:lnTo>
                    <a:pt x="0" y="671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13378296" y="0"/>
              <a:ext cx="671384" cy="671384"/>
            </a:xfrm>
            <a:custGeom>
              <a:avLst/>
              <a:gdLst/>
              <a:ahLst/>
              <a:cxnLst/>
              <a:rect r="r" b="b" t="t" l="l"/>
              <a:pathLst>
                <a:path h="671384" w="671384">
                  <a:moveTo>
                    <a:pt x="0" y="0"/>
                  </a:moveTo>
                  <a:lnTo>
                    <a:pt x="671384" y="0"/>
                  </a:lnTo>
                  <a:lnTo>
                    <a:pt x="671384" y="671384"/>
                  </a:lnTo>
                  <a:lnTo>
                    <a:pt x="0" y="671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26" id="26"/>
          <p:cNvSpPr txBox="true"/>
          <p:nvPr/>
        </p:nvSpPr>
        <p:spPr>
          <a:xfrm rot="0">
            <a:off x="6045561" y="3818406"/>
            <a:ext cx="5617896" cy="765175"/>
          </a:xfrm>
          <a:prstGeom prst="rect">
            <a:avLst/>
          </a:prstGeom>
        </p:spPr>
        <p:txBody>
          <a:bodyPr anchor="t" rtlCol="false" tIns="0" lIns="0" bIns="0" rIns="0">
            <a:spAutoFit/>
          </a:bodyPr>
          <a:lstStyle/>
          <a:p>
            <a:pPr algn="ctr">
              <a:lnSpc>
                <a:spcPts val="5599"/>
              </a:lnSpc>
            </a:pPr>
            <a:r>
              <a:rPr lang="en-US" sz="3999" b="true">
                <a:solidFill>
                  <a:srgbClr val="004AAD"/>
                </a:solidFill>
                <a:latin typeface="Calibri (MS) Bold"/>
                <a:ea typeface="Calibri (MS) Bold"/>
                <a:cs typeface="Calibri (MS) Bold"/>
                <a:sym typeface="Calibri (MS) Bold"/>
              </a:rPr>
              <a:t>Faz 02</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2189865" y="3870881"/>
            <a:ext cx="8730673" cy="2545237"/>
            <a:chOff x="0" y="0"/>
            <a:chExt cx="2299437" cy="670351"/>
          </a:xfrm>
        </p:grpSpPr>
        <p:sp>
          <p:nvSpPr>
            <p:cNvPr name="Freeform 12" id="12"/>
            <p:cNvSpPr/>
            <p:nvPr/>
          </p:nvSpPr>
          <p:spPr>
            <a:xfrm flipH="false" flipV="false" rot="0">
              <a:off x="0" y="0"/>
              <a:ext cx="2299437" cy="670351"/>
            </a:xfrm>
            <a:custGeom>
              <a:avLst/>
              <a:gdLst/>
              <a:ahLst/>
              <a:cxnLst/>
              <a:rect r="r" b="b" t="t" l="l"/>
              <a:pathLst>
                <a:path h="670351" w="2299437">
                  <a:moveTo>
                    <a:pt x="0" y="0"/>
                  </a:moveTo>
                  <a:lnTo>
                    <a:pt x="2299437" y="0"/>
                  </a:lnTo>
                  <a:lnTo>
                    <a:pt x="2299437" y="670351"/>
                  </a:lnTo>
                  <a:lnTo>
                    <a:pt x="0" y="670351"/>
                  </a:lnTo>
                  <a:close/>
                </a:path>
              </a:pathLst>
            </a:custGeom>
            <a:solidFill>
              <a:srgbClr val="004AAD"/>
            </a:solidFill>
          </p:spPr>
        </p:sp>
        <p:sp>
          <p:nvSpPr>
            <p:cNvPr name="TextBox 13" id="13"/>
            <p:cNvSpPr txBox="true"/>
            <p:nvPr/>
          </p:nvSpPr>
          <p:spPr>
            <a:xfrm>
              <a:off x="0" y="-76200"/>
              <a:ext cx="2299437" cy="746551"/>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983739" y="4199953"/>
            <a:ext cx="5557069" cy="1530349"/>
          </a:xfrm>
          <a:prstGeom prst="rect">
            <a:avLst/>
          </a:prstGeom>
        </p:spPr>
        <p:txBody>
          <a:bodyPr anchor="t" rtlCol="false" tIns="0" lIns="0" bIns="0" rIns="0">
            <a:spAutoFit/>
          </a:bodyPr>
          <a:lstStyle/>
          <a:p>
            <a:pPr algn="ctr">
              <a:lnSpc>
                <a:spcPts val="11200"/>
              </a:lnSpc>
            </a:pPr>
            <a:r>
              <a:rPr lang="en-US" sz="8000">
                <a:solidFill>
                  <a:srgbClr val="FFFFFF"/>
                </a:solidFill>
                <a:latin typeface="Calibri (MS)"/>
                <a:ea typeface="Calibri (MS)"/>
                <a:cs typeface="Calibri (MS)"/>
                <a:sym typeface="Calibri (MS)"/>
              </a:rPr>
              <a:t>KAYNAKÇA</a:t>
            </a:r>
          </a:p>
        </p:txBody>
      </p:sp>
      <p:sp>
        <p:nvSpPr>
          <p:cNvPr name="TextBox 15" id="15"/>
          <p:cNvSpPr txBox="true"/>
          <p:nvPr/>
        </p:nvSpPr>
        <p:spPr>
          <a:xfrm rot="0">
            <a:off x="8705484" y="627125"/>
            <a:ext cx="8964994" cy="8914129"/>
          </a:xfrm>
          <a:prstGeom prst="rect">
            <a:avLst/>
          </a:prstGeom>
        </p:spPr>
        <p:txBody>
          <a:bodyPr anchor="t" rtlCol="false" tIns="0" lIns="0" bIns="0" rIns="0">
            <a:spAutoFit/>
          </a:bodyPr>
          <a:lstStyle/>
          <a:p>
            <a:pPr algn="l">
              <a:lnSpc>
                <a:spcPts val="2659"/>
              </a:lnSpc>
            </a:pPr>
            <a:r>
              <a:rPr lang="en-US" sz="1899">
                <a:solidFill>
                  <a:srgbClr val="000000"/>
                </a:solidFill>
                <a:latin typeface="Calibri (MS)"/>
                <a:ea typeface="Calibri (MS)"/>
                <a:cs typeface="Calibri (MS)"/>
                <a:sym typeface="Calibri (MS)"/>
              </a:rPr>
              <a:t>Kitaplar:</a:t>
            </a:r>
          </a:p>
          <a:p>
            <a:pPr algn="l" marL="410209" indent="-205105" lvl="1">
              <a:lnSpc>
                <a:spcPts val="2659"/>
              </a:lnSpc>
              <a:buFont typeface="Arial"/>
              <a:buChar char="•"/>
            </a:pPr>
            <a:r>
              <a:rPr lang="en-US" sz="1899" u="sng">
                <a:solidFill>
                  <a:srgbClr val="000000"/>
                </a:solidFill>
                <a:latin typeface="Calibri (MS)"/>
                <a:ea typeface="Calibri (MS)"/>
                <a:cs typeface="Calibri (MS)"/>
                <a:sym typeface="Calibri (MS)"/>
                <a:hlinkClick r:id="rId4" tooltip="https://www.kaggle.com/datasets/sayalikhot21/synthetic-dataset-for-e-commerce-return-analysis"/>
              </a:rPr>
              <a:t>Smith, J. A., &amp; Brown, L. M. (2020). Supply chain risk management: Strategies and applications. Academic Press.</a:t>
            </a:r>
          </a:p>
          <a:p>
            <a:pPr algn="l" marL="410209" indent="-205105" lvl="1">
              <a:lnSpc>
                <a:spcPts val="2659"/>
              </a:lnSpc>
              <a:buFont typeface="Arial"/>
              <a:buChar char="•"/>
            </a:pPr>
            <a:r>
              <a:rPr lang="en-US" sz="1899" u="sng">
                <a:solidFill>
                  <a:srgbClr val="000000"/>
                </a:solidFill>
                <a:latin typeface="Calibri (MS)"/>
                <a:ea typeface="Calibri (MS)"/>
                <a:cs typeface="Calibri (MS)"/>
                <a:sym typeface="Calibri (MS)"/>
                <a:hlinkClick r:id="rId5" tooltip="https://www.kaggle.com/datasets/sayalikhot21/synthetic-dataset-for-e-commerce-return-analysis"/>
              </a:rPr>
              <a:t>Taylor, R. P. (2018). Data preprocessing in machine learning: Techniques and tools. Springer.</a:t>
            </a:r>
          </a:p>
          <a:p>
            <a:pPr algn="l">
              <a:lnSpc>
                <a:spcPts val="2659"/>
              </a:lnSpc>
            </a:pPr>
          </a:p>
          <a:p>
            <a:pPr algn="l">
              <a:lnSpc>
                <a:spcPts val="2659"/>
              </a:lnSpc>
            </a:pPr>
            <a:r>
              <a:rPr lang="en-US" sz="1899">
                <a:solidFill>
                  <a:srgbClr val="000000"/>
                </a:solidFill>
                <a:latin typeface="Calibri (MS)"/>
                <a:ea typeface="Calibri (MS)"/>
                <a:cs typeface="Calibri (MS)"/>
                <a:sym typeface="Calibri (MS)"/>
              </a:rPr>
              <a:t>Makale ve Konferans Bildirileri:</a:t>
            </a:r>
          </a:p>
          <a:p>
            <a:pPr algn="l" marL="410209" indent="-205105" lvl="1">
              <a:lnSpc>
                <a:spcPts val="2659"/>
              </a:lnSpc>
              <a:buFont typeface="Arial"/>
              <a:buChar char="•"/>
            </a:pPr>
            <a:r>
              <a:rPr lang="en-US" sz="1899" u="sng">
                <a:solidFill>
                  <a:srgbClr val="000000"/>
                </a:solidFill>
                <a:latin typeface="Calibri (MS)"/>
                <a:ea typeface="Calibri (MS)"/>
                <a:cs typeface="Calibri (MS)"/>
                <a:sym typeface="Calibri (MS)"/>
                <a:hlinkClick r:id="rId6" tooltip="https://www.kaggle.com/datasets/sayalikhot21/synthetic-dataset-for-e-commerce-return-analysis"/>
              </a:rPr>
              <a:t>Johnson, M. R., &amp; Lee, S. H. (2019). Predicting disruptions in logistics: A machine learning approach. Journal of Transportation Research, 45(3), 123-135. https://doi.org/10.1016/j.jtr.2019.01.005</a:t>
            </a:r>
          </a:p>
          <a:p>
            <a:pPr algn="l" marL="410209" indent="-205105" lvl="1">
              <a:lnSpc>
                <a:spcPts val="2659"/>
              </a:lnSpc>
              <a:buFont typeface="Arial"/>
              <a:buChar char="•"/>
            </a:pPr>
            <a:r>
              <a:rPr lang="en-US" sz="1899" u="sng">
                <a:solidFill>
                  <a:srgbClr val="000000"/>
                </a:solidFill>
                <a:latin typeface="Calibri (MS)"/>
                <a:ea typeface="Calibri (MS)"/>
                <a:cs typeface="Calibri (MS)"/>
                <a:sym typeface="Calibri (MS)"/>
                <a:hlinkClick r:id="rId7" tooltip="https://www.kaggle.com/datasets/sayalikhot21/synthetic-dataset-for-e-commerce-return-analysis"/>
              </a:rPr>
              <a:t>Wang, Y., &amp; Zhang, X. (2021). Enhancing supply chain resilience through data analytics. In Proceedings of the International Conference on Supply Chain Management (pp. 45-59). IEEE. https://doi.org/10.1109/ICSCM.2021.00012</a:t>
            </a:r>
          </a:p>
          <a:p>
            <a:pPr algn="l">
              <a:lnSpc>
                <a:spcPts val="2659"/>
              </a:lnSpc>
            </a:pPr>
          </a:p>
          <a:p>
            <a:pPr algn="l">
              <a:lnSpc>
                <a:spcPts val="2659"/>
              </a:lnSpc>
            </a:pPr>
            <a:r>
              <a:rPr lang="en-US" sz="1899">
                <a:solidFill>
                  <a:srgbClr val="000000"/>
                </a:solidFill>
                <a:latin typeface="Calibri (MS)"/>
                <a:ea typeface="Calibri (MS)"/>
                <a:cs typeface="Calibri (MS)"/>
                <a:sym typeface="Calibri (MS)"/>
              </a:rPr>
              <a:t>Raporlar ve Teknik Belgeler:</a:t>
            </a:r>
          </a:p>
          <a:p>
            <a:pPr algn="l" marL="410209" indent="-205105" lvl="1">
              <a:lnSpc>
                <a:spcPts val="2659"/>
              </a:lnSpc>
              <a:buFont typeface="Arial"/>
              <a:buChar char="•"/>
            </a:pPr>
            <a:r>
              <a:rPr lang="en-US" sz="1899" u="sng">
                <a:solidFill>
                  <a:srgbClr val="000000"/>
                </a:solidFill>
                <a:latin typeface="Calibri (MS)"/>
                <a:ea typeface="Calibri (MS)"/>
                <a:cs typeface="Calibri (MS)"/>
                <a:sym typeface="Calibri (MS)"/>
                <a:hlinkClick r:id="rId8" tooltip="https://www.kaggle.com/datasets/sayalikhot21/synthetic-dataset-for-e-commerce-return-analysis"/>
              </a:rPr>
              <a:t>European Commission. (2020). Impact of weather conditions on logistics operations. https://ec.europa.eu/transport/sites/transport/files/weather-logistics-report.pdf</a:t>
            </a:r>
          </a:p>
          <a:p>
            <a:pPr algn="l" marL="410209" indent="-205105" lvl="1">
              <a:lnSpc>
                <a:spcPts val="2659"/>
              </a:lnSpc>
              <a:buFont typeface="Arial"/>
              <a:buChar char="•"/>
            </a:pPr>
            <a:r>
              <a:rPr lang="en-US" sz="1899" u="sng">
                <a:solidFill>
                  <a:srgbClr val="000000"/>
                </a:solidFill>
                <a:latin typeface="Calibri (MS)"/>
                <a:ea typeface="Calibri (MS)"/>
                <a:cs typeface="Calibri (MS)"/>
                <a:sym typeface="Calibri (MS)"/>
                <a:hlinkClick r:id="rId9" tooltip="https://www.kaggle.com/datasets/sayalikhot21/synthetic-dataset-for-e-commerce-return-analysis"/>
              </a:rPr>
              <a:t>World Economic Forum. (2021). Global risks report 2021. https://www.weforum.org/reports/the-global-risks-report-2021</a:t>
            </a:r>
          </a:p>
          <a:p>
            <a:pPr algn="l">
              <a:lnSpc>
                <a:spcPts val="2659"/>
              </a:lnSpc>
            </a:pPr>
          </a:p>
          <a:p>
            <a:pPr algn="l">
              <a:lnSpc>
                <a:spcPts val="2659"/>
              </a:lnSpc>
            </a:pPr>
            <a:r>
              <a:rPr lang="en-US" sz="1899">
                <a:solidFill>
                  <a:srgbClr val="000000"/>
                </a:solidFill>
                <a:latin typeface="Calibri (MS)"/>
                <a:ea typeface="Calibri (MS)"/>
                <a:cs typeface="Calibri (MS)"/>
                <a:sym typeface="Calibri (MS)"/>
              </a:rPr>
              <a:t>Web Siteleri:</a:t>
            </a:r>
          </a:p>
          <a:p>
            <a:pPr algn="l" marL="410209" indent="-205105" lvl="1">
              <a:lnSpc>
                <a:spcPts val="2659"/>
              </a:lnSpc>
              <a:buFont typeface="Arial"/>
              <a:buChar char="•"/>
            </a:pPr>
            <a:r>
              <a:rPr lang="en-US" sz="1899" u="sng">
                <a:solidFill>
                  <a:srgbClr val="000000"/>
                </a:solidFill>
                <a:latin typeface="Calibri (MS)"/>
                <a:ea typeface="Calibri (MS)"/>
                <a:cs typeface="Calibri (MS)"/>
                <a:sym typeface="Calibri (MS)"/>
                <a:hlinkClick r:id="rId10" tooltip="https://www.kaggle.com/datasets/sayalikhot21/synthetic-dataset-for-e-commerce-return-analysis"/>
              </a:rPr>
              <a:t>Supply Chain Digital. (2022, March 15). How AI is transforming supply chain risk management. https://www.supplychaindigital.com/technology/how-ai-transforming-supply-chain-risk-management</a:t>
            </a:r>
          </a:p>
          <a:p>
            <a:pPr algn="l" marL="410209" indent="-205105" lvl="1">
              <a:lnSpc>
                <a:spcPts val="2659"/>
              </a:lnSpc>
              <a:buFont typeface="Arial"/>
              <a:buChar char="•"/>
            </a:pPr>
            <a:r>
              <a:rPr lang="en-US" sz="1899" u="sng">
                <a:solidFill>
                  <a:srgbClr val="000000"/>
                </a:solidFill>
                <a:latin typeface="Calibri (MS)"/>
                <a:ea typeface="Calibri (MS)"/>
                <a:cs typeface="Calibri (MS)"/>
                <a:sym typeface="Calibri (MS)"/>
                <a:hlinkClick r:id="rId11" tooltip="https://www.kaggle.com/datasets/sayalikhot21/synthetic-dataset-for-e-commerce-return-analysis"/>
              </a:rPr>
              <a:t>Logistics Management. (2023, January 10). The role of data analytics in modern logistics. </a:t>
            </a:r>
            <a:r>
              <a:rPr lang="en-US" sz="1899" u="sng">
                <a:solidFill>
                  <a:srgbClr val="000000"/>
                </a:solidFill>
                <a:latin typeface="Calibri (MS)"/>
                <a:ea typeface="Calibri (MS)"/>
                <a:cs typeface="Calibri (MS)"/>
                <a:sym typeface="Calibri (MS)"/>
                <a:hlinkClick r:id="rId12" tooltip="https://www.logisticsmgmt.com/article/the_role_of_data_analytics_in_modern_logistics"/>
              </a:rPr>
              <a:t>Synthetic Dataset for E-Commerce Return Analysis. Kaggle. (Erişim Yılı: 2025).</a:t>
            </a:r>
          </a:p>
          <a:p>
            <a:pPr algn="l">
              <a:lnSpc>
                <a:spcPts val="1680"/>
              </a:lnSpc>
            </a:pPr>
          </a:p>
        </p:txBody>
      </p:sp>
      <p:sp>
        <p:nvSpPr>
          <p:cNvPr name="TextBox 16" id="16"/>
          <p:cNvSpPr txBox="true"/>
          <p:nvPr/>
        </p:nvSpPr>
        <p:spPr>
          <a:xfrm rot="0">
            <a:off x="222160" y="6558015"/>
            <a:ext cx="6033987" cy="1941188"/>
          </a:xfrm>
          <a:prstGeom prst="rect">
            <a:avLst/>
          </a:prstGeom>
        </p:spPr>
        <p:txBody>
          <a:bodyPr anchor="t" rtlCol="false" tIns="0" lIns="0" bIns="0" rIns="0">
            <a:spAutoFit/>
          </a:bodyPr>
          <a:lstStyle/>
          <a:p>
            <a:pPr algn="ctr">
              <a:lnSpc>
                <a:spcPts val="3780"/>
              </a:lnSpc>
              <a:spcBef>
                <a:spcPct val="0"/>
              </a:spcBef>
            </a:pPr>
            <a:r>
              <a:rPr lang="en-US" sz="2700">
                <a:solidFill>
                  <a:srgbClr val="000000"/>
                </a:solidFill>
                <a:latin typeface="Calibri (MS)"/>
                <a:ea typeface="Calibri (MS)"/>
                <a:cs typeface="Calibri (MS)"/>
                <a:sym typeface="Calibri (MS)"/>
              </a:rPr>
              <a:t>“VERILER, DÖRT AÇIK KAYNAKLI E-TICARET VE KARGO FIRMASINDAN ALINMIŞ OLUP, AKADEMIK ÇALIŞMA DEĞERINI KORUMAK AMACIYLA PAYLAŞILAMAMAKTADIR.”</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true" flipV="false" rot="0">
            <a:off x="0" y="8618398"/>
            <a:ext cx="5173960" cy="1668602"/>
          </a:xfrm>
          <a:custGeom>
            <a:avLst/>
            <a:gdLst/>
            <a:ahLst/>
            <a:cxnLst/>
            <a:rect r="r" b="b" t="t" l="l"/>
            <a:pathLst>
              <a:path h="1668602" w="5173960">
                <a:moveTo>
                  <a:pt x="5173960" y="0"/>
                </a:moveTo>
                <a:lnTo>
                  <a:pt x="0" y="0"/>
                </a:lnTo>
                <a:lnTo>
                  <a:pt x="0" y="1668602"/>
                </a:lnTo>
                <a:lnTo>
                  <a:pt x="5173960" y="1668602"/>
                </a:lnTo>
                <a:lnTo>
                  <a:pt x="517396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true" rot="0">
            <a:off x="13114040" y="0"/>
            <a:ext cx="5173960" cy="1668602"/>
          </a:xfrm>
          <a:custGeom>
            <a:avLst/>
            <a:gdLst/>
            <a:ahLst/>
            <a:cxnLst/>
            <a:rect r="r" b="b" t="t" l="l"/>
            <a:pathLst>
              <a:path h="1668602" w="5173960">
                <a:moveTo>
                  <a:pt x="0" y="1668602"/>
                </a:moveTo>
                <a:lnTo>
                  <a:pt x="5173960" y="1668602"/>
                </a:lnTo>
                <a:lnTo>
                  <a:pt x="5173960" y="0"/>
                </a:lnTo>
                <a:lnTo>
                  <a:pt x="0" y="0"/>
                </a:lnTo>
                <a:lnTo>
                  <a:pt x="0" y="166860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2586980" y="3403613"/>
            <a:ext cx="13114040" cy="3136874"/>
          </a:xfrm>
          <a:prstGeom prst="rect">
            <a:avLst/>
          </a:prstGeom>
        </p:spPr>
        <p:txBody>
          <a:bodyPr anchor="t" rtlCol="false" tIns="0" lIns="0" bIns="0" rIns="0">
            <a:spAutoFit/>
          </a:bodyPr>
          <a:lstStyle/>
          <a:p>
            <a:pPr algn="ctr">
              <a:lnSpc>
                <a:spcPts val="11901"/>
              </a:lnSpc>
            </a:pPr>
            <a:r>
              <a:rPr lang="en-US" sz="8501">
                <a:solidFill>
                  <a:srgbClr val="004AAD"/>
                </a:solidFill>
                <a:latin typeface="Calibri (MS)"/>
                <a:ea typeface="Calibri (MS)"/>
                <a:cs typeface="Calibri (MS)"/>
                <a:sym typeface="Calibri (MS)"/>
              </a:rPr>
              <a:t>“İSTATİSTİKÇİSİZ İSTATİSTİK GÜVENILIR DEĞILDIR”</a:t>
            </a:r>
          </a:p>
        </p:txBody>
      </p:sp>
      <p:sp>
        <p:nvSpPr>
          <p:cNvPr name="TextBox 14" id="14"/>
          <p:cNvSpPr txBox="true"/>
          <p:nvPr/>
        </p:nvSpPr>
        <p:spPr>
          <a:xfrm rot="0">
            <a:off x="4082669" y="6626242"/>
            <a:ext cx="10122662" cy="857250"/>
          </a:xfrm>
          <a:prstGeom prst="rect">
            <a:avLst/>
          </a:prstGeom>
        </p:spPr>
        <p:txBody>
          <a:bodyPr anchor="t" rtlCol="false" tIns="0" lIns="0" bIns="0" rIns="0">
            <a:spAutoFit/>
          </a:bodyPr>
          <a:lstStyle/>
          <a:p>
            <a:pPr algn="ctr">
              <a:lnSpc>
                <a:spcPts val="6299"/>
              </a:lnSpc>
            </a:pPr>
            <a:r>
              <a:rPr lang="en-US" sz="4500">
                <a:solidFill>
                  <a:srgbClr val="000000"/>
                </a:solidFill>
                <a:latin typeface="Calibri (MS)"/>
                <a:ea typeface="Calibri (MS)"/>
                <a:cs typeface="Calibri (MS)"/>
                <a:sym typeface="Calibri (MS)"/>
              </a:rPr>
              <a:t>TÜRK İSTATİSTİK DERNEĞİ</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0575" y="-231169"/>
            <a:ext cx="21489149" cy="10749337"/>
            <a:chOff x="0" y="0"/>
            <a:chExt cx="28652199" cy="14332449"/>
          </a:xfrm>
        </p:grpSpPr>
        <p:sp>
          <p:nvSpPr>
            <p:cNvPr name="Freeform 3" id="3"/>
            <p:cNvSpPr/>
            <p:nvPr/>
          </p:nvSpPr>
          <p:spPr>
            <a:xfrm flipH="false" flipV="false" rot="0">
              <a:off x="0"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7153525" y="0"/>
              <a:ext cx="7166225" cy="7166225"/>
            </a:xfrm>
            <a:custGeom>
              <a:avLst/>
              <a:gdLst/>
              <a:ahLst/>
              <a:cxnLst/>
              <a:rect r="r" b="b" t="t" l="l"/>
              <a:pathLst>
                <a:path h="7166225" w="7166225">
                  <a:moveTo>
                    <a:pt x="0" y="7166225"/>
                  </a:moveTo>
                  <a:lnTo>
                    <a:pt x="7166224" y="7166225"/>
                  </a:lnTo>
                  <a:lnTo>
                    <a:pt x="7166224"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19749" y="0"/>
              <a:ext cx="7166225" cy="7166225"/>
            </a:xfrm>
            <a:custGeom>
              <a:avLst/>
              <a:gdLst/>
              <a:ahLst/>
              <a:cxnLst/>
              <a:rect r="r" b="b" t="t" l="l"/>
              <a:pathLst>
                <a:path h="7166225" w="7166225">
                  <a:moveTo>
                    <a:pt x="0" y="0"/>
                  </a:moveTo>
                  <a:lnTo>
                    <a:pt x="7166225" y="0"/>
                  </a:lnTo>
                  <a:lnTo>
                    <a:pt x="7166225" y="7166225"/>
                  </a:lnTo>
                  <a:lnTo>
                    <a:pt x="0" y="7166225"/>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21485974" y="0"/>
              <a:ext cx="7166225" cy="7166225"/>
            </a:xfrm>
            <a:custGeom>
              <a:avLst/>
              <a:gdLst/>
              <a:ahLst/>
              <a:cxnLst/>
              <a:rect r="r" b="b" t="t" l="l"/>
              <a:pathLst>
                <a:path h="7166225" w="7166225">
                  <a:moveTo>
                    <a:pt x="0" y="7166225"/>
                  </a:moveTo>
                  <a:lnTo>
                    <a:pt x="7166225" y="7166225"/>
                  </a:lnTo>
                  <a:lnTo>
                    <a:pt x="7166225" y="0"/>
                  </a:lnTo>
                  <a:lnTo>
                    <a:pt x="0" y="0"/>
                  </a:lnTo>
                  <a:lnTo>
                    <a:pt x="0" y="7166225"/>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21485974" y="7166225"/>
              <a:ext cx="7166225" cy="7166225"/>
            </a:xfrm>
            <a:custGeom>
              <a:avLst/>
              <a:gdLst/>
              <a:ahLst/>
              <a:cxnLst/>
              <a:rect r="r" b="b" t="t" l="l"/>
              <a:pathLst>
                <a:path h="7166225" w="7166225">
                  <a:moveTo>
                    <a:pt x="0" y="0"/>
                  </a:moveTo>
                  <a:lnTo>
                    <a:pt x="7166225" y="0"/>
                  </a:lnTo>
                  <a:lnTo>
                    <a:pt x="7166225"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4332449"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166225" y="7166225"/>
              <a:ext cx="7166225" cy="7166225"/>
            </a:xfrm>
            <a:custGeom>
              <a:avLst/>
              <a:gdLst/>
              <a:ahLst/>
              <a:cxnLst/>
              <a:rect r="r" b="b" t="t" l="l"/>
              <a:pathLst>
                <a:path h="7166225" w="7166225">
                  <a:moveTo>
                    <a:pt x="0" y="0"/>
                  </a:moveTo>
                  <a:lnTo>
                    <a:pt x="7166224" y="0"/>
                  </a:lnTo>
                  <a:lnTo>
                    <a:pt x="7166224" y="7166224"/>
                  </a:lnTo>
                  <a:lnTo>
                    <a:pt x="0" y="7166224"/>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10800000">
              <a:off x="0" y="7166225"/>
              <a:ext cx="7166225" cy="7166225"/>
            </a:xfrm>
            <a:custGeom>
              <a:avLst/>
              <a:gdLst/>
              <a:ahLst/>
              <a:cxnLst/>
              <a:rect r="r" b="b" t="t" l="l"/>
              <a:pathLst>
                <a:path h="7166225" w="7166225">
                  <a:moveTo>
                    <a:pt x="0" y="7166224"/>
                  </a:moveTo>
                  <a:lnTo>
                    <a:pt x="7166225" y="7166224"/>
                  </a:lnTo>
                  <a:lnTo>
                    <a:pt x="7166225" y="0"/>
                  </a:lnTo>
                  <a:lnTo>
                    <a:pt x="0" y="0"/>
                  </a:lnTo>
                  <a:lnTo>
                    <a:pt x="0" y="7166224"/>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true" flipV="false" rot="0">
            <a:off x="0" y="8618398"/>
            <a:ext cx="5173960" cy="1668602"/>
          </a:xfrm>
          <a:custGeom>
            <a:avLst/>
            <a:gdLst/>
            <a:ahLst/>
            <a:cxnLst/>
            <a:rect r="r" b="b" t="t" l="l"/>
            <a:pathLst>
              <a:path h="1668602" w="5173960">
                <a:moveTo>
                  <a:pt x="5173960" y="0"/>
                </a:moveTo>
                <a:lnTo>
                  <a:pt x="0" y="0"/>
                </a:lnTo>
                <a:lnTo>
                  <a:pt x="0" y="1668602"/>
                </a:lnTo>
                <a:lnTo>
                  <a:pt x="5173960" y="1668602"/>
                </a:lnTo>
                <a:lnTo>
                  <a:pt x="517396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true" rot="0">
            <a:off x="13114040" y="0"/>
            <a:ext cx="5173960" cy="1668602"/>
          </a:xfrm>
          <a:custGeom>
            <a:avLst/>
            <a:gdLst/>
            <a:ahLst/>
            <a:cxnLst/>
            <a:rect r="r" b="b" t="t" l="l"/>
            <a:pathLst>
              <a:path h="1668602" w="5173960">
                <a:moveTo>
                  <a:pt x="0" y="1668602"/>
                </a:moveTo>
                <a:lnTo>
                  <a:pt x="5173960" y="1668602"/>
                </a:lnTo>
                <a:lnTo>
                  <a:pt x="5173960" y="0"/>
                </a:lnTo>
                <a:lnTo>
                  <a:pt x="0" y="0"/>
                </a:lnTo>
                <a:lnTo>
                  <a:pt x="0" y="166860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8322544" y="1512498"/>
            <a:ext cx="1642912" cy="1642912"/>
          </a:xfrm>
          <a:custGeom>
            <a:avLst/>
            <a:gdLst/>
            <a:ahLst/>
            <a:cxnLst/>
            <a:rect r="r" b="b" t="t" l="l"/>
            <a:pathLst>
              <a:path h="1642912" w="1642912">
                <a:moveTo>
                  <a:pt x="0" y="0"/>
                </a:moveTo>
                <a:lnTo>
                  <a:pt x="1642912" y="0"/>
                </a:lnTo>
                <a:lnTo>
                  <a:pt x="1642912" y="1642912"/>
                </a:lnTo>
                <a:lnTo>
                  <a:pt x="0" y="1642912"/>
                </a:lnTo>
                <a:lnTo>
                  <a:pt x="0" y="0"/>
                </a:lnTo>
                <a:close/>
              </a:path>
            </a:pathLst>
          </a:custGeom>
          <a:blipFill>
            <a:blip r:embed="rId6"/>
            <a:stretch>
              <a:fillRect l="0" t="0" r="0" b="0"/>
            </a:stretch>
          </a:blipFill>
        </p:spPr>
      </p:sp>
      <p:sp>
        <p:nvSpPr>
          <p:cNvPr name="Freeform 14" id="14"/>
          <p:cNvSpPr/>
          <p:nvPr/>
        </p:nvSpPr>
        <p:spPr>
          <a:xfrm flipH="false" flipV="false" rot="0">
            <a:off x="16825449" y="8824795"/>
            <a:ext cx="867703" cy="867011"/>
          </a:xfrm>
          <a:custGeom>
            <a:avLst/>
            <a:gdLst/>
            <a:ahLst/>
            <a:cxnLst/>
            <a:rect r="r" b="b" t="t" l="l"/>
            <a:pathLst>
              <a:path h="867011" w="867703">
                <a:moveTo>
                  <a:pt x="0" y="0"/>
                </a:moveTo>
                <a:lnTo>
                  <a:pt x="867702" y="0"/>
                </a:lnTo>
                <a:lnTo>
                  <a:pt x="867702" y="867010"/>
                </a:lnTo>
                <a:lnTo>
                  <a:pt x="0" y="867010"/>
                </a:lnTo>
                <a:lnTo>
                  <a:pt x="0" y="0"/>
                </a:lnTo>
                <a:close/>
              </a:path>
            </a:pathLst>
          </a:custGeom>
          <a:blipFill>
            <a:blip r:embed="rId7">
              <a:extLst>
                <a:ext uri="{96DAC541-7B7A-43D3-8B79-37D633B846F1}">
                  <asvg:svgBlip xmlns:asvg="http://schemas.microsoft.com/office/drawing/2016/SVG/main" r:embed="rId8"/>
                </a:ext>
              </a:extLst>
            </a:blip>
            <a:stretch>
              <a:fillRect l="0" t="0" r="-17177" b="0"/>
            </a:stretch>
          </a:blipFill>
        </p:spPr>
      </p:sp>
      <p:sp>
        <p:nvSpPr>
          <p:cNvPr name="TextBox 15" id="15"/>
          <p:cNvSpPr txBox="true"/>
          <p:nvPr/>
        </p:nvSpPr>
        <p:spPr>
          <a:xfrm rot="0">
            <a:off x="2586980" y="3687763"/>
            <a:ext cx="13114040" cy="2406649"/>
          </a:xfrm>
          <a:prstGeom prst="rect">
            <a:avLst/>
          </a:prstGeom>
        </p:spPr>
        <p:txBody>
          <a:bodyPr anchor="t" rtlCol="false" tIns="0" lIns="0" bIns="0" rIns="0">
            <a:spAutoFit/>
          </a:bodyPr>
          <a:lstStyle/>
          <a:p>
            <a:pPr algn="ctr">
              <a:lnSpc>
                <a:spcPts val="17500"/>
              </a:lnSpc>
            </a:pPr>
            <a:r>
              <a:rPr lang="en-US" sz="12500">
                <a:solidFill>
                  <a:srgbClr val="004AAD"/>
                </a:solidFill>
                <a:latin typeface="Calibri (MS)"/>
                <a:ea typeface="Calibri (MS)"/>
                <a:cs typeface="Calibri (MS)"/>
                <a:sym typeface="Calibri (MS)"/>
              </a:rPr>
              <a:t>TEŞEKKÜRLER</a:t>
            </a:r>
          </a:p>
        </p:txBody>
      </p:sp>
      <p:sp>
        <p:nvSpPr>
          <p:cNvPr name="TextBox 16" id="16"/>
          <p:cNvSpPr txBox="true"/>
          <p:nvPr/>
        </p:nvSpPr>
        <p:spPr>
          <a:xfrm rot="0">
            <a:off x="4082669" y="5903912"/>
            <a:ext cx="10122662" cy="876300"/>
          </a:xfrm>
          <a:prstGeom prst="rect">
            <a:avLst/>
          </a:prstGeom>
        </p:spPr>
        <p:txBody>
          <a:bodyPr anchor="t" rtlCol="false" tIns="0" lIns="0" bIns="0" rIns="0">
            <a:spAutoFit/>
          </a:bodyPr>
          <a:lstStyle/>
          <a:p>
            <a:pPr algn="ctr">
              <a:lnSpc>
                <a:spcPts val="6299"/>
              </a:lnSpc>
            </a:pPr>
            <a:r>
              <a:rPr lang="en-US" sz="4500">
                <a:solidFill>
                  <a:srgbClr val="000000"/>
                </a:solidFill>
                <a:latin typeface="Rugrats Sans"/>
                <a:ea typeface="Rugrats Sans"/>
                <a:cs typeface="Rugrats Sans"/>
                <a:sym typeface="Rugrats Sans"/>
              </a:rPr>
              <a:t>mericozcan.com</a:t>
            </a:r>
          </a:p>
        </p:txBody>
      </p:sp>
      <p:sp>
        <p:nvSpPr>
          <p:cNvPr name="TextBox 17" id="17"/>
          <p:cNvSpPr txBox="true"/>
          <p:nvPr/>
        </p:nvSpPr>
        <p:spPr>
          <a:xfrm rot="0">
            <a:off x="7688749" y="3374485"/>
            <a:ext cx="2910501" cy="488950"/>
          </a:xfrm>
          <a:prstGeom prst="rect">
            <a:avLst/>
          </a:prstGeom>
        </p:spPr>
        <p:txBody>
          <a:bodyPr anchor="t" rtlCol="false" tIns="0" lIns="0" bIns="0" rIns="0">
            <a:spAutoFit/>
          </a:bodyPr>
          <a:lstStyle/>
          <a:p>
            <a:pPr algn="ctr">
              <a:lnSpc>
                <a:spcPts val="3499"/>
              </a:lnSpc>
            </a:pPr>
            <a:r>
              <a:rPr lang="en-US" sz="2499">
                <a:solidFill>
                  <a:srgbClr val="000000"/>
                </a:solidFill>
                <a:latin typeface="Rugrats Sans"/>
                <a:ea typeface="Rugrats Sans"/>
                <a:cs typeface="Rugrats Sans"/>
                <a:sym typeface="Rugrats Sans"/>
              </a:rPr>
              <a:t>Ege </a:t>
            </a:r>
            <a:r>
              <a:rPr lang="en-US" sz="2499">
                <a:solidFill>
                  <a:srgbClr val="000000"/>
                </a:solidFill>
                <a:latin typeface="Rugrats Sans"/>
                <a:ea typeface="Rugrats Sans"/>
                <a:cs typeface="Rugrats Sans"/>
                <a:sym typeface="Rugrats Sans"/>
              </a:rPr>
              <a:t>University</a:t>
            </a:r>
          </a:p>
        </p:txBody>
      </p:sp>
      <p:sp>
        <p:nvSpPr>
          <p:cNvPr name="TextBox 18" id="18"/>
          <p:cNvSpPr txBox="true"/>
          <p:nvPr/>
        </p:nvSpPr>
        <p:spPr>
          <a:xfrm rot="0">
            <a:off x="9600601" y="8815505"/>
            <a:ext cx="7026878" cy="876300"/>
          </a:xfrm>
          <a:prstGeom prst="rect">
            <a:avLst/>
          </a:prstGeom>
        </p:spPr>
        <p:txBody>
          <a:bodyPr anchor="t" rtlCol="false" tIns="0" lIns="0" bIns="0" rIns="0">
            <a:spAutoFit/>
          </a:bodyPr>
          <a:lstStyle/>
          <a:p>
            <a:pPr algn="ctr">
              <a:lnSpc>
                <a:spcPts val="6299"/>
              </a:lnSpc>
            </a:pPr>
            <a:r>
              <a:rPr lang="en-US" sz="4500">
                <a:solidFill>
                  <a:srgbClr val="000000"/>
                </a:solidFill>
                <a:latin typeface="Rugrats Sans"/>
                <a:ea typeface="Rugrats Sans"/>
                <a:cs typeface="Rugrats Sans"/>
                <a:sym typeface="Rugrats Sans"/>
              </a:rPr>
              <a:t>linkedin.com/in/meriç-özcan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DAG1venmWfk</dc:identifier>
  <dcterms:modified xsi:type="dcterms:W3CDTF">2011-08-01T06:04:30Z</dcterms:modified>
  <cp:revision>1</cp:revision>
  <dc:title>YZ Destekli Güvenli Kargo Teslimatı Optimizasyonu</dc:title>
</cp:coreProperties>
</file>